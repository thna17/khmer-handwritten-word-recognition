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lecturer Mr. Soklong HIM and fellow classmates. Today I am presenting my final project: Khmer Handwritten Line Recognition: A Comparison of Three CTC-Based Deep Learning Approaches. In this project, I engineered and evaluated three distinct deep learning architectures under strict academic benchmarking: an unseen-writer split, HarfBuzz synthetic pre-training, and word-level accuracy scoring.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Khmer handwriting presents three major computer vision hurdles. First, vertical stacking with subscript consonants called Coeng. Glyphs span three vertical levels. Second, Khmer words flow without spaces. You cannot segment characters without destroying subscripts. Third, high visual ambiguity between twin characters like ព and យ. Therefore, an end-to-end sequence model using CTC is mathematically required.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pipeline. We accept raw line crops, normalize them to height 48 with aspect ratio preservation, and feed them to a CNN feature extractor. The sequence encoder processes the temporal frames, projected to 87 classes. CTC loss aligns the sequence without manual bounding boxes, followed by an orthographic rule cleaner.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enforced a strict writer-disjoint split. Writers W007 and W0011 were held out permanently. Random image splitting lets models memorize a writer's pen quirk; our protocol guarantees true out-of-sample evaluation. Our vocabulary covers 86 Unicode characters with mandatory round-trip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two stages? Training from scratch on 177 real lines causes catastrophic overfitting: training loss drops to 0.14 while validation loss is stuck at 1.42. In Stage 1, we pre-trained all models on 10,000 HarfBuzz synthetic samples across 8 fonts, mastering the alphabet. In Stage 2, we fine-tuned on real handwriting with elastic distortions, anchor mixing, and cosine warmup.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Approach 1 is our baseline CRNN. It uses a 7-layer VGG CNN with asymmetric pooling, reducing height to 1 while downsampling width by only a factor of 4. This maintains rich temporal resolution for CTC frames. A 2-layer BiLSTM captures forward and backward context. It is compact, parameter-efficient at 8.49M params, and trained from scratch with synthetic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Approach 2, we evaluate transfer learning using an ImageNet pre-trained ResNet-18. We modified the early convolutional strides to retain horizontal resolution, and trained with a differential learning rate where the backbone learns at 25% of the head rate. The sequence model and CTC head were kept identical to A1 to isolate the feature extraction choice.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Approach 3, we isolate the sequence encoder. We keep the CNN and CTC head identical to A1, but replace the BiLSTM with a 4-layer Transformer Encoder with 8 attention heads and sinusoidal positional encodings. This compares multi-head self-attention against recurrent inductive bias directly on identical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Mr. Soklong's rubric, all three models were evaluated under strictly identical conditions. Same AdamW optimizer, identical cosine schedule, identical image resolution, and identical loss computation. The test set was touched only once after training completed.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core empirical findings on test writers W007 and W0011. Approach 1 (Baseline CRNN) won first place with 79.94% Character Accuracy and 25.85% Word-Level Accuracy, transcribing 10% of full lines perfectly. BiLSTM outperformed Transformer because sequential recurrence is the ideal inductive bias for handwriting. Transfer learning came third due to domain mismatch between ImageNet and binary pen strokes.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overlaid validation learning curves, we observe the training dynamics. A1 (blue) achieved the lowest and most stable validation trajectory, dropping smoothly from 46% down to 10.9%. A3 Transformer (green) converged reliably but plateaued higher. Notice the complete absence of validation spikes, proving that EMA decay and cosine warmup stabilized training.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Qualitative error analysis revealed two primary failure modes. First, faint subscript coengs. When a writer scribbles lightly, the downsampled CNN sometimes misses the stroke. Second, visual twin characters like ព and យ where cursive handwriting collapses loops. However, on clear handwriting, A1 transcribes entire 58-character lines with 100% precision.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addition to deep learning modeling, this project delivered clean software engineering artifacts. A modular PyTorch codebase, a sheet cropping pipeline with perspective deskewing, and a 100% passing test suite. Our live demo CLI predicts unseen test lines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comparative study demonstrated that Baseline CRNN with VGG and BiLSTM provides the most accurate and sample-efficient architecture for Khmer handwritten line recognition, reaching 80% character accuracy. Synthetic pre-training was essential to make real fine-tuning viable. Thank you very much, Mr. Soklong. I am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188720"/>
            <a:ext cx="9601200" cy="4389120"/>
          </a:xfrm>
          <a:prstGeom prst="rect">
            <a:avLst/>
          </a:prstGeom>
          <a:noFill/>
        </p:spPr>
        <p:txBody>
          <a:bodyPr wrap="square">
            <a:spAutoFit/>
          </a:bodyPr>
          <a:lstStyle/>
          <a:p>
            <a:pPr>
              <a:defRPr sz="1100" b="1">
                <a:solidFill>
                  <a:srgbClr val="A5B4FC"/>
                </a:solidFill>
              </a:defRPr>
            </a:pPr>
            <a:r>
              <a:t>FINAL YEAR PROJECT DEFENSE • DEEP LEARNING</a:t>
            </a:r>
          </a:p>
          <a:p>
            <a:pPr>
              <a:spcBef>
                <a:spcPts val="800"/>
              </a:spcBef>
              <a:defRPr sz="3600" b="1">
                <a:solidFill>
                  <a:srgbClr val="FFFFFF"/>
                </a:solidFill>
              </a:defRPr>
            </a:pPr>
            <a:r>
              <a:t>Khmer Handwritten Line Recognition</a:t>
            </a:r>
          </a:p>
          <a:p>
            <a:pPr>
              <a:spcBef>
                <a:spcPts val="600"/>
              </a:spcBef>
              <a:defRPr sz="1800">
                <a:solidFill>
                  <a:srgbClr val="CBD5E1"/>
                </a:solidFill>
              </a:defRPr>
            </a:pPr>
            <a:r>
              <a:t>A Rigorous Empirical Comparison of Three CTC-Based Deep Learning Architectures</a:t>
            </a:r>
          </a:p>
        </p:txBody>
      </p:sp>
      <p:sp>
        <p:nvSpPr>
          <p:cNvPr id="5" name="Rectangle 4"/>
          <p:cNvSpPr/>
          <p:nvPr/>
        </p:nvSpPr>
        <p:spPr>
          <a:xfrm>
            <a:off x="1280160" y="3474720"/>
            <a:ext cx="2743200" cy="36576"/>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3749039"/>
            <a:ext cx="9601200" cy="1645920"/>
          </a:xfrm>
          <a:prstGeom prst="rect">
            <a:avLst/>
          </a:prstGeom>
          <a:noFill/>
        </p:spPr>
        <p:txBody>
          <a:bodyPr wrap="square">
            <a:spAutoFit/>
          </a:bodyPr>
          <a:lstStyle/>
          <a:p>
            <a:pPr>
              <a:defRPr sz="1400" b="1">
                <a:solidFill>
                  <a:srgbClr val="FFFFFF"/>
                </a:solidFill>
              </a:defRPr>
            </a:pPr>
            <a:r>
              <a:t>Presenter: Hong Than Brathna  |  Bachelor of Software Engineering</a:t>
            </a:r>
          </a:p>
          <a:p>
            <a:pPr>
              <a:spcBef>
                <a:spcPts val="400"/>
              </a:spcBef>
              <a:defRPr sz="1300">
                <a:solidFill>
                  <a:srgbClr val="E2E8F0"/>
                </a:solidFill>
              </a:defRPr>
            </a:pPr>
            <a:r>
              <a:t>Advisor / Lecturer: Mr. Soklong HIM</a:t>
            </a:r>
          </a:p>
          <a:p>
            <a:pPr>
              <a:spcBef>
                <a:spcPts val="400"/>
              </a:spcBef>
              <a:defRPr sz="1200">
                <a:solidFill>
                  <a:srgbClr val="94A3B8"/>
                </a:solidFill>
              </a:defRPr>
            </a:pPr>
            <a:r>
              <a:t>Evaluation Standard: Strict Writer-Disjoint Held-Out Benchmark (W007, W0011)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The Problem: Why is Khmer Handwritten OCR Uniquely Difficult?</a:t>
            </a:r>
          </a:p>
        </p:txBody>
      </p:sp>
      <p:sp>
        <p:nvSpPr>
          <p:cNvPr id="4" name="Rounded Rectangle 3"/>
          <p:cNvSpPr/>
          <p:nvPr/>
        </p:nvSpPr>
        <p:spPr>
          <a:xfrm>
            <a:off x="731520" y="1463040"/>
            <a:ext cx="34134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47695" cy="4297680"/>
          </a:xfrm>
          <a:prstGeom prst="rect">
            <a:avLst/>
          </a:prstGeom>
          <a:noFill/>
        </p:spPr>
        <p:txBody>
          <a:bodyPr wrap="square">
            <a:spAutoFit/>
          </a:bodyPr>
          <a:lstStyle/>
          <a:p>
            <a:pPr>
              <a:defRPr sz="1400" b="1">
                <a:solidFill>
                  <a:srgbClr val="4338CA"/>
                </a:solidFill>
              </a:defRPr>
            </a:pPr>
            <a:r>
              <a:t>1. Multi-Tier Vertical Stacking (Coeng)</a:t>
            </a:r>
          </a:p>
          <a:p>
            <a:pPr>
              <a:spcBef>
                <a:spcPts val="1000"/>
              </a:spcBef>
              <a:defRPr sz="1100">
                <a:solidFill>
                  <a:srgbClr val="334155"/>
                </a:solidFill>
              </a:defRPr>
            </a:pPr>
            <a:r>
              <a:t>Khmer is an abugida script with 33 consonants and 24 vowels. Subscripts (ជើង, U+17D2) stack below the base consonant, while vowels appear above, below, or around.</a:t>
            </a:r>
            <a:br/>
            <a:br/>
            <a:r>
              <a:t>• Example: ក្ប (ក + ្ + ប) or ត្រី (Base + Subscript រ + Vowel ី).</a:t>
            </a:r>
            <a:br/>
            <a:r>
              <a:t>• Impact: Glyphs span 3 vertical tiers, breaking standard bounding-box segmentation.</a:t>
            </a:r>
          </a:p>
        </p:txBody>
      </p:sp>
      <p:sp>
        <p:nvSpPr>
          <p:cNvPr id="6" name="Rounded Rectangle 5"/>
          <p:cNvSpPr/>
          <p:nvPr/>
        </p:nvSpPr>
        <p:spPr>
          <a:xfrm>
            <a:off x="4389120" y="1463040"/>
            <a:ext cx="34134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47695" cy="4297680"/>
          </a:xfrm>
          <a:prstGeom prst="rect">
            <a:avLst/>
          </a:prstGeom>
          <a:noFill/>
        </p:spPr>
        <p:txBody>
          <a:bodyPr wrap="square">
            <a:spAutoFit/>
          </a:bodyPr>
          <a:lstStyle/>
          <a:p>
            <a:pPr>
              <a:defRPr sz="1400" b="1">
                <a:solidFill>
                  <a:srgbClr val="4338CA"/>
                </a:solidFill>
              </a:defRPr>
            </a:pPr>
            <a:r>
              <a:t>2. Continuous Unspaced Writing</a:t>
            </a:r>
          </a:p>
          <a:p>
            <a:pPr>
              <a:spcBef>
                <a:spcPts val="1000"/>
              </a:spcBef>
              <a:defRPr sz="1100">
                <a:solidFill>
                  <a:srgbClr val="334155"/>
                </a:solidFill>
              </a:defRPr>
            </a:pPr>
            <a:r>
              <a:t>Unlike English or Latin scripts, Khmer sentences are written continuously without spaces between words.</a:t>
            </a:r>
            <a:br/>
            <a:br/>
            <a:r>
              <a:t>• Words cannot be segmented by naive whitespace slicing.</a:t>
            </a:r>
            <a:br/>
            <a:r>
              <a:t>• The model must learn horizontal context and character transitions end-to-end.</a:t>
            </a:r>
            <a:br/>
            <a:r>
              <a:t>• Requires sequence alignment via CTC loss.</a:t>
            </a:r>
          </a:p>
        </p:txBody>
      </p:sp>
      <p:sp>
        <p:nvSpPr>
          <p:cNvPr id="8" name="Rounded Rectangle 7"/>
          <p:cNvSpPr/>
          <p:nvPr/>
        </p:nvSpPr>
        <p:spPr>
          <a:xfrm>
            <a:off x="8046720" y="1463040"/>
            <a:ext cx="34134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47695" cy="4297680"/>
          </a:xfrm>
          <a:prstGeom prst="rect">
            <a:avLst/>
          </a:prstGeom>
          <a:noFill/>
        </p:spPr>
        <p:txBody>
          <a:bodyPr wrap="square">
            <a:spAutoFit/>
          </a:bodyPr>
          <a:lstStyle/>
          <a:p>
            <a:pPr>
              <a:defRPr sz="1400" b="1">
                <a:solidFill>
                  <a:srgbClr val="4338CA"/>
                </a:solidFill>
              </a:defRPr>
            </a:pPr>
            <a:r>
              <a:t>3. High Writer Variance &amp; Visual Ambiguity</a:t>
            </a:r>
          </a:p>
          <a:p>
            <a:pPr>
              <a:spcBef>
                <a:spcPts val="1000"/>
              </a:spcBef>
              <a:defRPr sz="1100">
                <a:solidFill>
                  <a:srgbClr val="334155"/>
                </a:solidFill>
              </a:defRPr>
            </a:pPr>
            <a:r>
              <a:t>Handwritten styles cause dramatic stroke distortion, cursive loops, and ink pressure variation.</a:t>
            </a:r>
            <a:br/>
            <a:br/>
            <a:r>
              <a:t>• Visual twin confusion: ព vs យ, ត vs ដ, ច vs ជ.</a:t>
            </a:r>
            <a:br/>
            <a:r>
              <a:t>• Scarcity of verified human-labeled Khmer line datasets.</a:t>
            </a:r>
            <a:br/>
            <a:r>
              <a:t>• Extreme danger of writer overfitting.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End-to-End System Architecture &amp; Preprocessing Pipeline</a:t>
            </a:r>
          </a:p>
        </p:txBody>
      </p:sp>
      <p:sp>
        <p:nvSpPr>
          <p:cNvPr id="4" name="Rounded Rectangle 3"/>
          <p:cNvSpPr/>
          <p:nvPr/>
        </p:nvSpPr>
        <p:spPr>
          <a:xfrm>
            <a:off x="731520" y="1463040"/>
            <a:ext cx="33832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1920240"/>
          </a:xfrm>
          <a:prstGeom prst="rect">
            <a:avLst/>
          </a:prstGeom>
          <a:noFill/>
        </p:spPr>
        <p:txBody>
          <a:bodyPr wrap="square">
            <a:spAutoFit/>
          </a:bodyPr>
          <a:lstStyle/>
          <a:p>
            <a:pPr>
              <a:defRPr sz="1300" b="1">
                <a:solidFill>
                  <a:srgbClr val="4338CA"/>
                </a:solidFill>
              </a:defRPr>
            </a:pPr>
            <a:r>
              <a:t>1. Input Line Image</a:t>
            </a:r>
          </a:p>
          <a:p>
            <a:pPr>
              <a:spcBef>
                <a:spcPts val="600"/>
              </a:spcBef>
              <a:defRPr sz="1050">
                <a:solidFill>
                  <a:srgbClr val="334155"/>
                </a:solidFill>
              </a:defRPr>
            </a:pPr>
            <a:r>
              <a:t>Raw handwritten line crop with variable width.</a:t>
            </a:r>
            <a:br/>
            <a:r>
              <a:t>Height normalized to 48px while strictly preserving aspect ratio.</a:t>
            </a:r>
            <a:br/>
            <a:r>
              <a:t>Dynamic white padding (255) to batch max width.</a:t>
            </a:r>
          </a:p>
        </p:txBody>
      </p:sp>
      <p:sp>
        <p:nvSpPr>
          <p:cNvPr id="6" name="Rounded Rectangle 5"/>
          <p:cNvSpPr/>
          <p:nvPr/>
        </p:nvSpPr>
        <p:spPr>
          <a:xfrm>
            <a:off x="4389120" y="1463040"/>
            <a:ext cx="33832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00200"/>
            <a:ext cx="3017520" cy="1920240"/>
          </a:xfrm>
          <a:prstGeom prst="rect">
            <a:avLst/>
          </a:prstGeom>
          <a:noFill/>
        </p:spPr>
        <p:txBody>
          <a:bodyPr wrap="square">
            <a:spAutoFit/>
          </a:bodyPr>
          <a:lstStyle/>
          <a:p>
            <a:pPr>
              <a:defRPr sz="1300" b="1">
                <a:solidFill>
                  <a:srgbClr val="4338CA"/>
                </a:solidFill>
              </a:defRPr>
            </a:pPr>
            <a:r>
              <a:t>2. Feature Extractor (CNN)</a:t>
            </a:r>
          </a:p>
          <a:p>
            <a:pPr>
              <a:spcBef>
                <a:spcPts val="600"/>
              </a:spcBef>
              <a:defRPr sz="1050">
                <a:solidFill>
                  <a:srgbClr val="334155"/>
                </a:solidFill>
              </a:defRPr>
            </a:pPr>
            <a:r>
              <a:t>Grayscale 1-channel tensor [B, 1, 48, W].</a:t>
            </a:r>
            <a:br/>
            <a:r>
              <a:t>Asymmetric pooling (2, 1) preserves temporal resolution W' = W/4.</a:t>
            </a:r>
            <a:br/>
            <a:r>
              <a:t>Maps visual ink strokes to feature frames.</a:t>
            </a:r>
          </a:p>
        </p:txBody>
      </p:sp>
      <p:sp>
        <p:nvSpPr>
          <p:cNvPr id="8" name="Rounded Rectangle 7"/>
          <p:cNvSpPr/>
          <p:nvPr/>
        </p:nvSpPr>
        <p:spPr>
          <a:xfrm>
            <a:off x="8046720" y="1463040"/>
            <a:ext cx="33832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00200"/>
            <a:ext cx="3017520" cy="1920240"/>
          </a:xfrm>
          <a:prstGeom prst="rect">
            <a:avLst/>
          </a:prstGeom>
          <a:noFill/>
        </p:spPr>
        <p:txBody>
          <a:bodyPr wrap="square">
            <a:spAutoFit/>
          </a:bodyPr>
          <a:lstStyle/>
          <a:p>
            <a:pPr>
              <a:defRPr sz="1300" b="1">
                <a:solidFill>
                  <a:srgbClr val="4338CA"/>
                </a:solidFill>
              </a:defRPr>
            </a:pPr>
            <a:r>
              <a:t>3. Sequence Modeling</a:t>
            </a:r>
          </a:p>
          <a:p>
            <a:pPr>
              <a:spcBef>
                <a:spcPts val="600"/>
              </a:spcBef>
              <a:defRPr sz="1050">
                <a:solidFill>
                  <a:srgbClr val="334155"/>
                </a:solidFill>
              </a:defRPr>
            </a:pPr>
            <a:r>
              <a:t>Models bidirectional horizontal context.</a:t>
            </a:r>
            <a:br/>
            <a:r>
              <a:t>Evaluated across two sequence paradigms:</a:t>
            </a:r>
            <a:br/>
            <a:r>
              <a:t>• Bidirectional LSTM (A1 &amp; A2)</a:t>
            </a:r>
            <a:br/>
            <a:r>
              <a:t>• Transformer Multi-Head Self-Attention (A3)</a:t>
            </a:r>
          </a:p>
        </p:txBody>
      </p:sp>
      <p:sp>
        <p:nvSpPr>
          <p:cNvPr id="10" name="Rounded Rectangle 9"/>
          <p:cNvSpPr/>
          <p:nvPr/>
        </p:nvSpPr>
        <p:spPr>
          <a:xfrm>
            <a:off x="731520" y="3931920"/>
            <a:ext cx="33832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3017520" cy="1920240"/>
          </a:xfrm>
          <a:prstGeom prst="rect">
            <a:avLst/>
          </a:prstGeom>
          <a:noFill/>
        </p:spPr>
        <p:txBody>
          <a:bodyPr wrap="square">
            <a:spAutoFit/>
          </a:bodyPr>
          <a:lstStyle/>
          <a:p>
            <a:pPr>
              <a:defRPr sz="1300" b="1">
                <a:solidFill>
                  <a:srgbClr val="4338CA"/>
                </a:solidFill>
              </a:defRPr>
            </a:pPr>
            <a:r>
              <a:t>4. Linear CTC Projection</a:t>
            </a:r>
          </a:p>
          <a:p>
            <a:pPr>
              <a:spcBef>
                <a:spcPts val="600"/>
              </a:spcBef>
              <a:defRPr sz="1050">
                <a:solidFill>
                  <a:srgbClr val="334155"/>
                </a:solidFill>
              </a:defRPr>
            </a:pPr>
            <a:r>
              <a:t>Linear layer projects hidden dim to 87 classes:</a:t>
            </a:r>
            <a:br/>
            <a:r>
              <a:t>• 86 Khmer Unicode NFC code-points</a:t>
            </a:r>
            <a:br/>
            <a:r>
              <a:t>• Index 0 strictly reserved for CTC &lt;blank&gt;</a:t>
            </a:r>
            <a:br/>
            <a:r>
              <a:t>• LogSoftmax output distribution.</a:t>
            </a:r>
          </a:p>
        </p:txBody>
      </p:sp>
      <p:sp>
        <p:nvSpPr>
          <p:cNvPr id="12" name="Rounded Rectangle 11"/>
          <p:cNvSpPr/>
          <p:nvPr/>
        </p:nvSpPr>
        <p:spPr>
          <a:xfrm>
            <a:off x="4389120" y="3931920"/>
            <a:ext cx="33832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69080"/>
            <a:ext cx="3017520" cy="1920240"/>
          </a:xfrm>
          <a:prstGeom prst="rect">
            <a:avLst/>
          </a:prstGeom>
          <a:noFill/>
        </p:spPr>
        <p:txBody>
          <a:bodyPr wrap="square">
            <a:spAutoFit/>
          </a:bodyPr>
          <a:lstStyle/>
          <a:p>
            <a:pPr>
              <a:defRPr sz="1300" b="1">
                <a:solidFill>
                  <a:srgbClr val="4338CA"/>
                </a:solidFill>
              </a:defRPr>
            </a:pPr>
            <a:r>
              <a:t>5. CTC Greedy Decoder</a:t>
            </a:r>
          </a:p>
          <a:p>
            <a:pPr>
              <a:spcBef>
                <a:spcPts val="600"/>
              </a:spcBef>
              <a:defRPr sz="1050">
                <a:solidFill>
                  <a:srgbClr val="334155"/>
                </a:solidFill>
              </a:defRPr>
            </a:pPr>
            <a:r>
              <a:t>Collapses repeated consecutive predictions.</a:t>
            </a:r>
            <a:br/>
            <a:r>
              <a:t>Strips &lt;blank&gt; tokens.</a:t>
            </a:r>
            <a:br/>
            <a:r>
              <a:t>Aligns time-frames to character sequences without explicit boundary labels.</a:t>
            </a:r>
          </a:p>
        </p:txBody>
      </p:sp>
      <p:sp>
        <p:nvSpPr>
          <p:cNvPr id="14" name="Rounded Rectangle 13"/>
          <p:cNvSpPr/>
          <p:nvPr/>
        </p:nvSpPr>
        <p:spPr>
          <a:xfrm>
            <a:off x="8046720" y="3931920"/>
            <a:ext cx="33832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4069080"/>
            <a:ext cx="3017520" cy="1920240"/>
          </a:xfrm>
          <a:prstGeom prst="rect">
            <a:avLst/>
          </a:prstGeom>
          <a:noFill/>
        </p:spPr>
        <p:txBody>
          <a:bodyPr wrap="square">
            <a:spAutoFit/>
          </a:bodyPr>
          <a:lstStyle/>
          <a:p>
            <a:pPr>
              <a:defRPr sz="1300" b="1">
                <a:solidFill>
                  <a:srgbClr val="4338CA"/>
                </a:solidFill>
              </a:defRPr>
            </a:pPr>
            <a:r>
              <a:t>6. Orthographic Post-Processor</a:t>
            </a:r>
          </a:p>
          <a:p>
            <a:pPr>
              <a:spcBef>
                <a:spcPts val="600"/>
              </a:spcBef>
              <a:defRPr sz="1050">
                <a:solidFill>
                  <a:srgbClr val="334155"/>
                </a:solidFill>
              </a:defRPr>
            </a:pPr>
            <a:r>
              <a:t>Enforces Khmer Unicode grammatical rules:</a:t>
            </a:r>
            <a:br/>
            <a:r>
              <a:t>• Fixes misplaced diacritics &amp; bantoc</a:t>
            </a:r>
            <a:br/>
            <a:r>
              <a:t>• Cleans invalid duplicate vowels</a:t>
            </a:r>
            <a:br/>
            <a:r>
              <a:t>• Outputs finalized Unicode 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Dataset Integrity &amp; Strict Writer-Disjoint Splitting</a:t>
            </a:r>
          </a:p>
        </p:txBody>
      </p:sp>
      <p:sp>
        <p:nvSpPr>
          <p:cNvPr id="4" name="Rounded Rectangle 3"/>
          <p:cNvSpPr/>
          <p:nvPr/>
        </p:nvSpPr>
        <p:spPr>
          <a:xfrm>
            <a:off x="731520" y="1463040"/>
            <a:ext cx="41148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749039" cy="4297680"/>
          </a:xfrm>
          <a:prstGeom prst="rect">
            <a:avLst/>
          </a:prstGeom>
          <a:noFill/>
        </p:spPr>
        <p:txBody>
          <a:bodyPr wrap="square">
            <a:spAutoFit/>
          </a:bodyPr>
          <a:lstStyle/>
          <a:p>
            <a:pPr>
              <a:defRPr sz="1600" b="1">
                <a:solidFill>
                  <a:srgbClr val="0F172A"/>
                </a:solidFill>
              </a:defRPr>
            </a:pPr>
            <a:r>
              <a:t>The Writer-Disjoint Guarantee</a:t>
            </a:r>
          </a:p>
          <a:p>
            <a:pPr>
              <a:spcBef>
                <a:spcPts val="1200"/>
              </a:spcBef>
              <a:defRPr sz="1150">
                <a:solidFill>
                  <a:srgbClr val="334155"/>
                </a:solidFill>
              </a:defRPr>
            </a:pPr>
            <a:r>
              <a:t>In OCR research, random splitting causes massive data leakage: the model simply memorizes an author's idiosyncratic handwriting style rather than learning Khmer script features.</a:t>
            </a:r>
            <a:br/>
            <a:br/>
            <a:r>
              <a:t>• Academic Rigor: Writers in the test set NEVER appear in the training or validation splits.</a:t>
            </a:r>
            <a:br/>
            <a:br/>
            <a:r>
              <a:t>• Test Writers W007 &amp; W0011: Held out permanently. Not a single stroke was seen during model optimization.</a:t>
            </a:r>
            <a:br/>
            <a:br/>
            <a:r>
              <a:t>• Benchmark Truth: Evaluates true out-of-sample generalization to completely unseen human writers.</a:t>
            </a:r>
          </a:p>
        </p:txBody>
      </p:sp>
      <p:sp>
        <p:nvSpPr>
          <p:cNvPr id="6" name="Rounded Rectangle 5"/>
          <p:cNvSpPr/>
          <p:nvPr/>
        </p:nvSpPr>
        <p:spPr>
          <a:xfrm>
            <a:off x="5120640" y="1463040"/>
            <a:ext cx="63093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645920"/>
            <a:ext cx="5943600" cy="4297680"/>
          </a:xfrm>
          <a:prstGeom prst="rect">
            <a:avLst/>
          </a:prstGeom>
          <a:noFill/>
        </p:spPr>
        <p:txBody>
          <a:bodyPr wrap="square">
            <a:spAutoFit/>
          </a:bodyPr>
          <a:lstStyle/>
          <a:p>
            <a:pPr>
              <a:defRPr sz="1600" b="1">
                <a:solidFill>
                  <a:srgbClr val="4338CA"/>
                </a:solidFill>
              </a:defRPr>
            </a:pPr>
            <a:r>
              <a:t>Dataset Partitioning Distribution</a:t>
            </a:r>
          </a:p>
        </p:txBody>
      </p:sp>
      <p:graphicFrame>
        <p:nvGraphicFramePr>
          <p:cNvPr id="8" name="Table 7"/>
          <p:cNvGraphicFramePr>
            <a:graphicFrameLocks noGrp="1"/>
          </p:cNvGraphicFramePr>
          <p:nvPr/>
        </p:nvGraphicFramePr>
        <p:xfrm>
          <a:off x="5303520" y="2194560"/>
          <a:ext cx="5943600" cy="2011680"/>
        </p:xfrm>
        <a:graphic>
          <a:graphicData uri="http://schemas.openxmlformats.org/drawingml/2006/table">
            <a:tbl>
              <a:tblPr firstRow="1" bandRow="1">
                <a:tableStyleId>{5C22544A-7EE6-4342-B048-85BDC9FD1C3A}</a:tableStyleId>
              </a:tblPr>
              <a:tblGrid>
                <a:gridCol w="1188720"/>
                <a:gridCol w="1463040"/>
                <a:gridCol w="1005840"/>
                <a:gridCol w="1005840"/>
                <a:gridCol w="1280160"/>
              </a:tblGrid>
              <a:tr h="502920">
                <a:tc>
                  <a:txBody>
                    <a:bodyPr/>
                    <a:lstStyle/>
                    <a:p>
                      <a:pPr>
                        <a:defRPr sz="1000" b="1">
                          <a:solidFill>
                            <a:srgbClr val="FFFFFF"/>
                          </a:solidFill>
                        </a:defRPr>
                      </a:pPr>
                      <a:r>
                        <a:t>Split</a:t>
                      </a:r>
                    </a:p>
                  </a:txBody>
                  <a:tcPr>
                    <a:solidFill>
                      <a:srgbClr val="1E293B"/>
                    </a:solidFill>
                  </a:tcPr>
                </a:tc>
                <a:tc>
                  <a:txBody>
                    <a:bodyPr/>
                    <a:lstStyle/>
                    <a:p>
                      <a:pPr>
                        <a:defRPr sz="1000" b="1">
                          <a:solidFill>
                            <a:srgbClr val="FFFFFF"/>
                          </a:solidFill>
                        </a:defRPr>
                      </a:pPr>
                      <a:r>
                        <a:t>Human Writers</a:t>
                      </a:r>
                    </a:p>
                  </a:txBody>
                  <a:tcPr>
                    <a:solidFill>
                      <a:srgbClr val="1E293B"/>
                    </a:solidFill>
                  </a:tcPr>
                </a:tc>
                <a:tc>
                  <a:txBody>
                    <a:bodyPr/>
                    <a:lstStyle/>
                    <a:p>
                      <a:pPr>
                        <a:defRPr sz="1000" b="1">
                          <a:solidFill>
                            <a:srgbClr val="FFFFFF"/>
                          </a:solidFill>
                        </a:defRPr>
                      </a:pPr>
                      <a:r>
                        <a:t>Lines</a:t>
                      </a:r>
                    </a:p>
                  </a:txBody>
                  <a:tcPr>
                    <a:solidFill>
                      <a:srgbClr val="1E293B"/>
                    </a:solidFill>
                  </a:tcPr>
                </a:tc>
                <a:tc>
                  <a:txBody>
                    <a:bodyPr/>
                    <a:lstStyle/>
                    <a:p>
                      <a:pPr>
                        <a:defRPr sz="1000" b="1">
                          <a:solidFill>
                            <a:srgbClr val="FFFFFF"/>
                          </a:solidFill>
                        </a:defRPr>
                      </a:pPr>
                      <a:r>
                        <a:t>Chars</a:t>
                      </a:r>
                    </a:p>
                  </a:txBody>
                  <a:tcPr>
                    <a:solidFill>
                      <a:srgbClr val="1E293B"/>
                    </a:solidFill>
                  </a:tcPr>
                </a:tc>
                <a:tc>
                  <a:txBody>
                    <a:bodyPr/>
                    <a:lstStyle/>
                    <a:p>
                      <a:pPr>
                        <a:defRPr sz="1000" b="1">
                          <a:solidFill>
                            <a:srgbClr val="FFFFFF"/>
                          </a:solidFill>
                        </a:defRPr>
                      </a:pPr>
                      <a:r>
                        <a:t>Role</a:t>
                      </a:r>
                    </a:p>
                  </a:txBody>
                  <a:tcPr>
                    <a:solidFill>
                      <a:srgbClr val="1E293B"/>
                    </a:solidFill>
                  </a:tcPr>
                </a:tc>
              </a:tr>
              <a:tr h="502920">
                <a:tc>
                  <a:txBody>
                    <a:bodyPr/>
                    <a:lstStyle/>
                    <a:p>
                      <a:pPr>
                        <a:defRPr sz="1000"/>
                      </a:pPr>
                      <a:r>
                        <a:t>Train</a:t>
                      </a:r>
                    </a:p>
                  </a:txBody>
                  <a:tcPr/>
                </a:tc>
                <a:tc>
                  <a:txBody>
                    <a:bodyPr/>
                    <a:lstStyle/>
                    <a:p>
                      <a:pPr>
                        <a:defRPr sz="1000"/>
                      </a:pPr>
                      <a:r>
                        <a:t>7 (W001-W006, W008)</a:t>
                      </a:r>
                    </a:p>
                  </a:txBody>
                  <a:tcPr/>
                </a:tc>
                <a:tc>
                  <a:txBody>
                    <a:bodyPr/>
                    <a:lstStyle/>
                    <a:p>
                      <a:pPr>
                        <a:defRPr sz="1000"/>
                      </a:pPr>
                      <a:r>
                        <a:t>177</a:t>
                      </a:r>
                    </a:p>
                  </a:txBody>
                  <a:tcPr/>
                </a:tc>
                <a:tc>
                  <a:txBody>
                    <a:bodyPr/>
                    <a:lstStyle/>
                    <a:p>
                      <a:pPr>
                        <a:defRPr sz="1000"/>
                      </a:pPr>
                      <a:r>
                        <a:t>10,248</a:t>
                      </a:r>
                    </a:p>
                  </a:txBody>
                  <a:tcPr/>
                </a:tc>
                <a:tc>
                  <a:txBody>
                    <a:bodyPr/>
                    <a:lstStyle/>
                    <a:p>
                      <a:pPr>
                        <a:defRPr sz="1000"/>
                      </a:pPr>
                      <a:r>
                        <a:t>Optimization</a:t>
                      </a:r>
                    </a:p>
                  </a:txBody>
                  <a:tcPr/>
                </a:tc>
              </a:tr>
              <a:tr h="502920">
                <a:tc>
                  <a:txBody>
                    <a:bodyPr/>
                    <a:lstStyle/>
                    <a:p>
                      <a:pPr>
                        <a:defRPr sz="1000"/>
                      </a:pPr>
                      <a:r>
                        <a:t>Validation</a:t>
                      </a:r>
                    </a:p>
                  </a:txBody>
                  <a:tcPr/>
                </a:tc>
                <a:tc>
                  <a:txBody>
                    <a:bodyPr/>
                    <a:lstStyle/>
                    <a:p>
                      <a:pPr>
                        <a:defRPr sz="1000"/>
                      </a:pPr>
                      <a:r>
                        <a:t>2 (W009, W010)</a:t>
                      </a:r>
                    </a:p>
                  </a:txBody>
                  <a:tcPr/>
                </a:tc>
                <a:tc>
                  <a:txBody>
                    <a:bodyPr/>
                    <a:lstStyle/>
                    <a:p>
                      <a:pPr>
                        <a:defRPr sz="1000"/>
                      </a:pPr>
                      <a:r>
                        <a:t>50</a:t>
                      </a:r>
                    </a:p>
                  </a:txBody>
                  <a:tcPr/>
                </a:tc>
                <a:tc>
                  <a:txBody>
                    <a:bodyPr/>
                    <a:lstStyle/>
                    <a:p>
                      <a:pPr>
                        <a:defRPr sz="1000"/>
                      </a:pPr>
                      <a:r>
                        <a:t>2,892</a:t>
                      </a:r>
                    </a:p>
                  </a:txBody>
                  <a:tcPr/>
                </a:tc>
                <a:tc>
                  <a:txBody>
                    <a:bodyPr/>
                    <a:lstStyle/>
                    <a:p>
                      <a:pPr>
                        <a:defRPr sz="1000"/>
                      </a:pPr>
                      <a:r>
                        <a:t>Early Stopping</a:t>
                      </a:r>
                    </a:p>
                  </a:txBody>
                  <a:tcPr/>
                </a:tc>
              </a:tr>
              <a:tr h="502920">
                <a:tc>
                  <a:txBody>
                    <a:bodyPr/>
                    <a:lstStyle/>
                    <a:p>
                      <a:pPr>
                        <a:defRPr sz="1000" b="1">
                          <a:solidFill>
                            <a:srgbClr val="4338CA"/>
                          </a:solidFill>
                        </a:defRPr>
                      </a:pPr>
                      <a:r>
                        <a:t>Held-Out Test</a:t>
                      </a:r>
                    </a:p>
                  </a:txBody>
                  <a:tcPr>
                    <a:solidFill>
                      <a:srgbClr val="EEF2FF"/>
                    </a:solidFill>
                  </a:tcPr>
                </a:tc>
                <a:tc>
                  <a:txBody>
                    <a:bodyPr/>
                    <a:lstStyle/>
                    <a:p>
                      <a:pPr>
                        <a:defRPr sz="1000" b="1">
                          <a:solidFill>
                            <a:srgbClr val="4338CA"/>
                          </a:solidFill>
                        </a:defRPr>
                      </a:pPr>
                      <a:r>
                        <a:t>2 (W007, W0011)</a:t>
                      </a:r>
                    </a:p>
                  </a:txBody>
                  <a:tcPr>
                    <a:solidFill>
                      <a:srgbClr val="EEF2FF"/>
                    </a:solidFill>
                  </a:tcPr>
                </a:tc>
                <a:tc>
                  <a:txBody>
                    <a:bodyPr/>
                    <a:lstStyle/>
                    <a:p>
                      <a:pPr>
                        <a:defRPr sz="1000" b="1">
                          <a:solidFill>
                            <a:srgbClr val="4338CA"/>
                          </a:solidFill>
                        </a:defRPr>
                      </a:pPr>
                      <a:r>
                        <a:t>50</a:t>
                      </a:r>
                    </a:p>
                  </a:txBody>
                  <a:tcPr>
                    <a:solidFill>
                      <a:srgbClr val="EEF2FF"/>
                    </a:solidFill>
                  </a:tcPr>
                </a:tc>
                <a:tc>
                  <a:txBody>
                    <a:bodyPr/>
                    <a:lstStyle/>
                    <a:p>
                      <a:pPr>
                        <a:defRPr sz="1000" b="1">
                          <a:solidFill>
                            <a:srgbClr val="4338CA"/>
                          </a:solidFill>
                        </a:defRPr>
                      </a:pPr>
                      <a:r>
                        <a:t>2,936</a:t>
                      </a:r>
                    </a:p>
                  </a:txBody>
                  <a:tcPr>
                    <a:solidFill>
                      <a:srgbClr val="EEF2FF"/>
                    </a:solidFill>
                  </a:tcPr>
                </a:tc>
                <a:tc>
                  <a:txBody>
                    <a:bodyPr/>
                    <a:lstStyle/>
                    <a:p>
                      <a:pPr>
                        <a:defRPr sz="1000" b="1">
                          <a:solidFill>
                            <a:srgbClr val="4338CA"/>
                          </a:solidFill>
                        </a:defRPr>
                      </a:pPr>
                      <a:r>
                        <a:t>Locked Eval</a:t>
                      </a:r>
                    </a:p>
                  </a:txBody>
                  <a:tcPr>
                    <a:solidFill>
                      <a:srgbClr val="EEF2FF"/>
                    </a:solidFill>
                  </a:tcPr>
                </a:tc>
              </a:tr>
            </a:tbl>
          </a:graphicData>
        </a:graphic>
      </p:graphicFrame>
      <p:sp>
        <p:nvSpPr>
          <p:cNvPr id="9" name="TextBox 8"/>
          <p:cNvSpPr txBox="1"/>
          <p:nvPr/>
        </p:nvSpPr>
        <p:spPr>
          <a:xfrm>
            <a:off x="5303520" y="4389120"/>
            <a:ext cx="5943600" cy="1463040"/>
          </a:xfrm>
          <a:prstGeom prst="rect">
            <a:avLst/>
          </a:prstGeom>
          <a:noFill/>
        </p:spPr>
        <p:txBody>
          <a:bodyPr wrap="square">
            <a:spAutoFit/>
          </a:bodyPr>
          <a:lstStyle/>
          <a:p>
            <a:pPr>
              <a:defRPr sz="1200" b="1">
                <a:solidFill>
                  <a:srgbClr val="0F172A"/>
                </a:solidFill>
              </a:defRPr>
            </a:pPr>
            <a:r>
              <a:t>Unicode NFC Vocabulary: 86 Classes</a:t>
            </a:r>
          </a:p>
          <a:p>
            <a:pPr>
              <a:spcBef>
                <a:spcPts val="400"/>
              </a:spcBef>
              <a:defRPr sz="1050">
                <a:solidFill>
                  <a:srgbClr val="64748B"/>
                </a:solidFill>
              </a:defRPr>
            </a:pPr>
            <a:r>
              <a:t>33 Consonants + 15 Independent Vowels + 16 Dependent Vowels + 14 Diacritics/Signs + 8 Punctuation + 1 CTC Blank Token (Index 0). Verified with round-trip encode/decode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Curriculum Learning: Synthetic Pre-training → Real Fine-Tuning</a:t>
            </a:r>
          </a:p>
        </p:txBody>
      </p:sp>
      <p:sp>
        <p:nvSpPr>
          <p:cNvPr id="4" name="Rounded Rectangle 3"/>
          <p:cNvSpPr/>
          <p:nvPr/>
        </p:nvSpPr>
        <p:spPr>
          <a:xfrm>
            <a:off x="731520" y="1463040"/>
            <a:ext cx="51206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297680"/>
          </a:xfrm>
          <a:prstGeom prst="rect">
            <a:avLst/>
          </a:prstGeom>
          <a:noFill/>
        </p:spPr>
        <p:txBody>
          <a:bodyPr wrap="square">
            <a:spAutoFit/>
          </a:bodyPr>
          <a:lstStyle/>
          <a:p>
            <a:pPr>
              <a:defRPr sz="1600" b="1">
                <a:solidFill>
                  <a:srgbClr val="4338CA"/>
                </a:solidFill>
              </a:defRPr>
            </a:pPr>
            <a:r>
              <a:t>Stage 1: HarfBuzz Synthetic Pre-training</a:t>
            </a:r>
          </a:p>
          <a:p>
            <a:pPr>
              <a:spcBef>
                <a:spcPts val="800"/>
              </a:spcBef>
              <a:defRPr sz="1100">
                <a:solidFill>
                  <a:srgbClr val="334155"/>
                </a:solidFill>
              </a:defRPr>
            </a:pPr>
            <a:r>
              <a:t>• Cold Start Solution: Training 8.5M parameters on 177 real lines causes loss collapse into predicting blanks.</a:t>
            </a:r>
            <a:br/>
            <a:br/>
            <a:r>
              <a:t>• 10,000 Synthetic Samples: Rendered with HarfBuzz OpenType font shaping across 8 distinct Khmer typography fonts.</a:t>
            </a:r>
            <a:br/>
            <a:br/>
            <a:r>
              <a:t>• Full Character Coverage: Perfect ligature placement, coeng stacking, and baseline alignment.</a:t>
            </a:r>
            <a:br/>
            <a:br/>
            <a:r>
              <a:t>• Milestone Result: All 3 architectures achieved &gt;98% Character Accuracy on synthetic validation before touching real handwriting.</a:t>
            </a:r>
          </a:p>
        </p:txBody>
      </p:sp>
      <p:sp>
        <p:nvSpPr>
          <p:cNvPr id="6" name="Rounded Rectangle 5"/>
          <p:cNvSpPr/>
          <p:nvPr/>
        </p:nvSpPr>
        <p:spPr>
          <a:xfrm>
            <a:off x="6217920" y="146304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297680"/>
          </a:xfrm>
          <a:prstGeom prst="rect">
            <a:avLst/>
          </a:prstGeom>
          <a:noFill/>
        </p:spPr>
        <p:txBody>
          <a:bodyPr wrap="square">
            <a:spAutoFit/>
          </a:bodyPr>
          <a:lstStyle/>
          <a:p>
            <a:pPr>
              <a:defRPr sz="1600" b="1">
                <a:solidFill>
                  <a:srgbClr val="0D9488"/>
                </a:solidFill>
              </a:defRPr>
            </a:pPr>
            <a:r>
              <a:t>Stage 2: Real Handwriting Fine-Tuning</a:t>
            </a:r>
          </a:p>
          <a:p>
            <a:pPr>
              <a:spcBef>
                <a:spcPts val="800"/>
              </a:spcBef>
              <a:defRPr sz="1100">
                <a:solidFill>
                  <a:srgbClr val="334155"/>
                </a:solidFill>
              </a:defRPr>
            </a:pPr>
            <a:r>
              <a:t>• Elastic &amp; Perspective Augmentations: Simulates pen stroke distortions, paper shears, and ink variations.</a:t>
            </a:r>
            <a:br/>
            <a:br/>
            <a:r>
              <a:t>• Real Oversampling (8x): Real ink represents ~40% of every training epoch.</a:t>
            </a:r>
            <a:br/>
            <a:br/>
            <a:r>
              <a:t>• Synthetic Anchor Mixing (3,000 samples): Prevents catastrophic forgetting of clean font geometry.</a:t>
            </a:r>
            <a:br/>
            <a:br/>
            <a:r>
              <a:t>• Cosine Annealing with 3 Warmup Epochs: Protects pre-trained CNN weights from initial gradient shock.</a:t>
            </a:r>
            <a:br/>
            <a:br/>
            <a:r>
              <a:t>• Exponential Moving Average (EMA decay=0.999): Stabilizes checkpoint selection against noisy 11-step epochs.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Approach 1 (A1): Baseline CRNN (VGG + BiLSTM + CTC)</a:t>
            </a:r>
          </a:p>
        </p:txBody>
      </p:sp>
      <p:sp>
        <p:nvSpPr>
          <p:cNvPr id="4" name="Rounded Rectangle 3"/>
          <p:cNvSpPr/>
          <p:nvPr/>
        </p:nvSpPr>
        <p:spPr>
          <a:xfrm>
            <a:off x="731520" y="1463040"/>
            <a:ext cx="54864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297680"/>
          </a:xfrm>
          <a:prstGeom prst="rect">
            <a:avLst/>
          </a:prstGeom>
          <a:noFill/>
        </p:spPr>
        <p:txBody>
          <a:bodyPr wrap="square">
            <a:spAutoFit/>
          </a:bodyPr>
          <a:lstStyle/>
          <a:p>
            <a:pPr>
              <a:defRPr sz="1600" b="1">
                <a:solidFill>
                  <a:srgbClr val="0F172A"/>
                </a:solidFill>
              </a:defRPr>
            </a:pPr>
            <a:r>
              <a:t>Architecture Specifications</a:t>
            </a:r>
          </a:p>
          <a:p>
            <a:pPr>
              <a:spcBef>
                <a:spcPts val="800"/>
              </a:spcBef>
              <a:defRPr sz="1150">
                <a:solidFill>
                  <a:srgbClr val="334155"/>
                </a:solidFill>
              </a:defRPr>
            </a:pPr>
            <a:r>
              <a:t>• Custom VGG-Style CNN Backbone:</a:t>
            </a:r>
            <a:br/>
            <a:r>
              <a:t>  - 7 Convolutional layers (64 → 128 → 256 → 512 channels)</a:t>
            </a:r>
            <a:br/>
            <a:r>
              <a:t>  - Asymmetric MaxPool (2, 1) in layers 3 &amp; 4: aggressively reduces height from 48 down to 1 while preserving horizontal time resolution (W' = W/4)</a:t>
            </a:r>
            <a:br/>
            <a:br/>
            <a:r>
              <a:t>• Bidirectional LSTM Sequence Encoder:</a:t>
            </a:r>
            <a:br/>
            <a:r>
              <a:t>  - 2 Layers, Hidden dimension = 256 (bidirectional total = 512)</a:t>
            </a:r>
            <a:br/>
            <a:r>
              <a:t>  - Dropout = 0.2 between layers</a:t>
            </a:r>
            <a:br/>
            <a:br/>
            <a:r>
              <a:t>• CTC Classification Head:</a:t>
            </a:r>
            <a:br/>
            <a:r>
              <a:t>  - Linear(512 → 87 classes) + LogSoftmax</a:t>
            </a:r>
            <a:br/>
            <a:br/>
            <a:r>
              <a:t>• Trainable Parameters: 8.49 Million</a:t>
            </a:r>
          </a:p>
        </p:txBody>
      </p:sp>
      <p:sp>
        <p:nvSpPr>
          <p:cNvPr id="6" name="Rounded Rectangle 5"/>
          <p:cNvSpPr/>
          <p:nvPr/>
        </p:nvSpPr>
        <p:spPr>
          <a:xfrm>
            <a:off x="6492240" y="1463040"/>
            <a:ext cx="49377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45920"/>
            <a:ext cx="4572000" cy="4297680"/>
          </a:xfrm>
          <a:prstGeom prst="rect">
            <a:avLst/>
          </a:prstGeom>
          <a:noFill/>
        </p:spPr>
        <p:txBody>
          <a:bodyPr wrap="square">
            <a:spAutoFit/>
          </a:bodyPr>
          <a:lstStyle/>
          <a:p>
            <a:pPr>
              <a:defRPr sz="1600" b="1">
                <a:solidFill>
                  <a:srgbClr val="4338CA"/>
                </a:solidFill>
              </a:defRPr>
            </a:pPr>
            <a:r>
              <a:t>Why A1 is the Benchmark Standard</a:t>
            </a:r>
          </a:p>
          <a:p>
            <a:pPr>
              <a:spcBef>
                <a:spcPts val="800"/>
              </a:spcBef>
              <a:defRPr sz="1150">
                <a:solidFill>
                  <a:srgbClr val="334155"/>
                </a:solidFill>
              </a:defRPr>
            </a:pPr>
            <a:r>
              <a:t>• Classic CRNN (Shi et al.): Specifically engineered for text-line optical character recognition.</a:t>
            </a:r>
            <a:br/>
            <a:br/>
            <a:r>
              <a:t>• Asymmetric Receptive Field: Downsampling height to 1 eliminates vertical ambiguity, collapsing subscripts directly into sequential feature frames.</a:t>
            </a:r>
            <a:br/>
            <a:br/>
            <a:r>
              <a:t>• Recurrence Inductive Bias: BiLSTM naturally processes sequences in sequential order, matching the left-to-right progression of writing.</a:t>
            </a:r>
            <a:br/>
            <a:br/>
            <a:r>
              <a:t>• Parameter Efficiency: Lightest model in our study (8.49M params), providing the highest speed and sample efficiency.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Approach 2 (A2): Transfer Learning with Pre-trained ResNet-18</a:t>
            </a:r>
          </a:p>
        </p:txBody>
      </p:sp>
      <p:sp>
        <p:nvSpPr>
          <p:cNvPr id="4" name="Rounded Rectangle 3"/>
          <p:cNvSpPr/>
          <p:nvPr/>
        </p:nvSpPr>
        <p:spPr>
          <a:xfrm>
            <a:off x="731520" y="1463040"/>
            <a:ext cx="54864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297680"/>
          </a:xfrm>
          <a:prstGeom prst="rect">
            <a:avLst/>
          </a:prstGeom>
          <a:noFill/>
        </p:spPr>
        <p:txBody>
          <a:bodyPr wrap="square">
            <a:spAutoFit/>
          </a:bodyPr>
          <a:lstStyle/>
          <a:p>
            <a:pPr>
              <a:defRPr sz="1600" b="1">
                <a:solidFill>
                  <a:srgbClr val="0F172A"/>
                </a:solidFill>
              </a:defRPr>
            </a:pPr>
            <a:r>
              <a:t>Architecture Modifications</a:t>
            </a:r>
          </a:p>
          <a:p>
            <a:pPr>
              <a:spcBef>
                <a:spcPts val="800"/>
              </a:spcBef>
              <a:defRPr sz="1100">
                <a:solidFill>
                  <a:srgbClr val="334155"/>
                </a:solidFill>
              </a:defRPr>
            </a:pPr>
            <a:r>
              <a:t>• Pre-trained ImageNet Backbone:</a:t>
            </a:r>
            <a:br/>
            <a:r>
              <a:t>  - ResNet-18 (IMAGENET1K_V1 weights)</a:t>
            </a:r>
            <a:br/>
            <a:r>
              <a:t>  - Replicates 1-channel grayscale to 3-channel input</a:t>
            </a:r>
            <a:br/>
            <a:br/>
            <a:r>
              <a:t>• Custom Optical Resolution Modifications:</a:t>
            </a:r>
            <a:br/>
            <a:r>
              <a:t>  - Modified Conv1 and MaxPool horizontal stride from 2 to 1</a:t>
            </a:r>
            <a:br/>
            <a:r>
              <a:t>  - Truncated before AdaptiveAvgPool and FC layers</a:t>
            </a:r>
            <a:br/>
            <a:r>
              <a:t>  - Asymmetric bridge convolution (3, 1) collapses remaining height to 1</a:t>
            </a:r>
            <a:br/>
            <a:br/>
            <a:r>
              <a:t>• Held-Constant Sequence Head:</a:t>
            </a:r>
            <a:br/>
            <a:r>
              <a:t>  - Identical 2-layer BiLSTM (hidden=256) + CTC Head as A1</a:t>
            </a:r>
            <a:br/>
            <a:br/>
            <a:r>
              <a:t>• Trainable Parameters: 30.95 Million (3.6x larger than A1)</a:t>
            </a:r>
          </a:p>
        </p:txBody>
      </p:sp>
      <p:sp>
        <p:nvSpPr>
          <p:cNvPr id="6" name="Rounded Rectangle 5"/>
          <p:cNvSpPr/>
          <p:nvPr/>
        </p:nvSpPr>
        <p:spPr>
          <a:xfrm>
            <a:off x="6492240" y="1463040"/>
            <a:ext cx="49377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45920"/>
            <a:ext cx="4572000" cy="4297680"/>
          </a:xfrm>
          <a:prstGeom prst="rect">
            <a:avLst/>
          </a:prstGeom>
          <a:noFill/>
        </p:spPr>
        <p:txBody>
          <a:bodyPr wrap="square">
            <a:spAutoFit/>
          </a:bodyPr>
          <a:lstStyle/>
          <a:p>
            <a:pPr>
              <a:defRPr sz="1600" b="1">
                <a:solidFill>
                  <a:srgbClr val="4338CA"/>
                </a:solidFill>
              </a:defRPr>
            </a:pPr>
            <a:r>
              <a:t>Training Strategy: Differential LR</a:t>
            </a:r>
          </a:p>
          <a:p>
            <a:pPr>
              <a:spcBef>
                <a:spcPts val="800"/>
              </a:spcBef>
              <a:defRPr sz="1150">
                <a:solidFill>
                  <a:srgbClr val="334155"/>
                </a:solidFill>
              </a:defRPr>
            </a:pPr>
            <a:r>
              <a:t>• Rubric Distinctness: Explores dimension (B) Training Strategy (Transfer learning vs Training from scratch).</a:t>
            </a:r>
            <a:br/>
            <a:br/>
            <a:r>
              <a:t>• Differential Learning Rate:</a:t>
            </a:r>
            <a:br/>
            <a:r>
              <a:t>  - Backbone LR multiplier = 0.25x (fine-tuned gently)</a:t>
            </a:r>
            <a:br/>
            <a:r>
              <a:t>  - Head LR multiplier = 1.0x (adapted rapidly)</a:t>
            </a:r>
            <a:br/>
            <a:br/>
            <a:r>
              <a:t>• 3-Epoch Backbone Freeze:</a:t>
            </a:r>
            <a:br/>
            <a:r>
              <a:t>  - Allows the random classification head to adapt without disrupting pre-trained visual edge detectors.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Approach 3 (A3): Transformer Sequence Encoder</a:t>
            </a:r>
          </a:p>
        </p:txBody>
      </p:sp>
      <p:sp>
        <p:nvSpPr>
          <p:cNvPr id="4" name="Rounded Rectangle 3"/>
          <p:cNvSpPr/>
          <p:nvPr/>
        </p:nvSpPr>
        <p:spPr>
          <a:xfrm>
            <a:off x="731520" y="1463040"/>
            <a:ext cx="54864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297680"/>
          </a:xfrm>
          <a:prstGeom prst="rect">
            <a:avLst/>
          </a:prstGeom>
          <a:noFill/>
        </p:spPr>
        <p:txBody>
          <a:bodyPr wrap="square">
            <a:spAutoFit/>
          </a:bodyPr>
          <a:lstStyle/>
          <a:p>
            <a:pPr>
              <a:defRPr sz="1600" b="1">
                <a:solidFill>
                  <a:srgbClr val="0F172A"/>
                </a:solidFill>
              </a:defRPr>
            </a:pPr>
            <a:r>
              <a:t>Architecture Specifications</a:t>
            </a:r>
          </a:p>
          <a:p>
            <a:pPr>
              <a:spcBef>
                <a:spcPts val="800"/>
              </a:spcBef>
              <a:defRPr sz="1100">
                <a:solidFill>
                  <a:srgbClr val="334155"/>
                </a:solidFill>
              </a:defRPr>
            </a:pPr>
            <a:r>
              <a:t>• VGG CNN Backbone: Identical to A1 (held constant).</a:t>
            </a:r>
            <a:br/>
            <a:br/>
            <a:r>
              <a:t>• 1D Sinusoidal Positional Encoding:</a:t>
            </a:r>
            <a:br/>
            <a:r>
              <a:t>  - Dim = 512, max length = 512 frames</a:t>
            </a:r>
            <a:br/>
            <a:r>
              <a:t>  - Injects sequential order into order-agnostic self-attention</a:t>
            </a:r>
            <a:br/>
            <a:br/>
            <a:r>
              <a:t>• 4-Layer Transformer Encoder:</a:t>
            </a:r>
            <a:br/>
            <a:r>
              <a:t>  - 8 Multi-Head Self-Attention heads per layer</a:t>
            </a:r>
            <a:br/>
            <a:r>
              <a:t>  - Feed-forward expansion: 512 → 1024 → 512 (GELU)</a:t>
            </a:r>
            <a:br/>
            <a:r>
              <a:t>  - Pre-LayerNorm &amp; Residual connections</a:t>
            </a:r>
            <a:br/>
            <a:br/>
            <a:r>
              <a:t>• CTC Head: Identical Linear(512 → 87) + CTC Loss</a:t>
            </a:r>
            <a:br/>
            <a:br/>
            <a:r>
              <a:t>• Trainable Parameters: 9.54 Million</a:t>
            </a:r>
          </a:p>
        </p:txBody>
      </p:sp>
      <p:sp>
        <p:nvSpPr>
          <p:cNvPr id="6" name="Rounded Rectangle 5"/>
          <p:cNvSpPr/>
          <p:nvPr/>
        </p:nvSpPr>
        <p:spPr>
          <a:xfrm>
            <a:off x="6492240" y="1463040"/>
            <a:ext cx="49377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45920"/>
            <a:ext cx="4572000" cy="4297680"/>
          </a:xfrm>
          <a:prstGeom prst="rect">
            <a:avLst/>
          </a:prstGeom>
          <a:noFill/>
        </p:spPr>
        <p:txBody>
          <a:bodyPr wrap="square">
            <a:spAutoFit/>
          </a:bodyPr>
          <a:lstStyle/>
          <a:p>
            <a:pPr>
              <a:defRPr sz="1600" b="1">
                <a:solidFill>
                  <a:srgbClr val="4338CA"/>
                </a:solidFill>
              </a:defRPr>
            </a:pPr>
            <a:r>
              <a:t>Self-Attention vs Recurrence</a:t>
            </a:r>
          </a:p>
          <a:p>
            <a:pPr>
              <a:spcBef>
                <a:spcPts val="800"/>
              </a:spcBef>
              <a:defRPr sz="1150">
                <a:solidFill>
                  <a:srgbClr val="334155"/>
                </a:solidFill>
              </a:defRPr>
            </a:pPr>
            <a:r>
              <a:t>• Rubric Distinctness: Explores dimension (A) Architecture (BiLSTM vs Transformer sequence encoder).</a:t>
            </a:r>
            <a:br/>
            <a:br/>
            <a:r>
              <a:t>• Global Pairwise Attention:</a:t>
            </a:r>
            <a:br/>
            <a:r>
              <a:t>  - Computes all-to-all token attention in O(1) sequential steps</a:t>
            </a:r>
            <a:br/>
            <a:r>
              <a:t>  - Directly connects distant context across long text lines</a:t>
            </a:r>
            <a:br/>
            <a:br/>
            <a:r>
              <a:t>• Inductive Bias Trade-Off:</a:t>
            </a:r>
            <a:br/>
            <a:r>
              <a:t>  - Transformers possess minimal inductive bias</a:t>
            </a:r>
            <a:br/>
            <a:r>
              <a:t>  - Tests whether self-attention can outperform recurrence when fine-tuned on modest handwriting corpora.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Experimental Controls: Fair &amp; Isolated Variable Testing</a:t>
            </a:r>
          </a:p>
        </p:txBody>
      </p:sp>
      <p:graphicFrame>
        <p:nvGraphicFramePr>
          <p:cNvPr id="4" name="Table 3"/>
          <p:cNvGraphicFramePr>
            <a:graphicFrameLocks noGrp="1"/>
          </p:cNvGraphicFramePr>
          <p:nvPr/>
        </p:nvGraphicFramePr>
        <p:xfrm>
          <a:off x="731520" y="1463040"/>
          <a:ext cx="10728655" cy="4572000"/>
        </p:xfrm>
        <a:graphic>
          <a:graphicData uri="http://schemas.openxmlformats.org/drawingml/2006/table">
            <a:tbl>
              <a:tblPr firstRow="1" bandRow="1">
                <a:tableStyleId>{5C22544A-7EE6-4342-B048-85BDC9FD1C3A}</a:tableStyleId>
              </a:tblPr>
              <a:tblGrid>
                <a:gridCol w="2377440"/>
                <a:gridCol w="3840480"/>
                <a:gridCol w="4510735"/>
              </a:tblGrid>
              <a:tr h="653142">
                <a:tc>
                  <a:txBody>
                    <a:bodyPr/>
                    <a:lstStyle/>
                    <a:p>
                      <a:pPr>
                        <a:defRPr sz="1100" b="1">
                          <a:solidFill>
                            <a:srgbClr val="FFFFFF"/>
                          </a:solidFill>
                        </a:defRPr>
                      </a:pPr>
                      <a:r>
                        <a:t>Hyperparameter / Setup</a:t>
                      </a:r>
                    </a:p>
                  </a:txBody>
                  <a:tcPr>
                    <a:solidFill>
                      <a:srgbClr val="1E293B"/>
                    </a:solidFill>
                  </a:tcPr>
                </a:tc>
                <a:tc>
                  <a:txBody>
                    <a:bodyPr/>
                    <a:lstStyle/>
                    <a:p>
                      <a:pPr>
                        <a:defRPr sz="1100" b="1">
                          <a:solidFill>
                            <a:srgbClr val="FFFFFF"/>
                          </a:solidFill>
                        </a:defRPr>
                      </a:pPr>
                      <a:r>
                        <a:t>Value Across All 3 Approaches</a:t>
                      </a:r>
                    </a:p>
                  </a:txBody>
                  <a:tcPr>
                    <a:solidFill>
                      <a:srgbClr val="1E293B"/>
                    </a:solidFill>
                  </a:tcPr>
                </a:tc>
                <a:tc>
                  <a:txBody>
                    <a:bodyPr/>
                    <a:lstStyle/>
                    <a:p>
                      <a:pPr>
                        <a:defRPr sz="1100" b="1">
                          <a:solidFill>
                            <a:srgbClr val="FFFFFF"/>
                          </a:solidFill>
                        </a:defRPr>
                      </a:pPr>
                      <a:r>
                        <a:t>Scientific &amp; Methodological Rationale</a:t>
                      </a:r>
                    </a:p>
                  </a:txBody>
                  <a:tcPr>
                    <a:solidFill>
                      <a:srgbClr val="1E293B"/>
                    </a:solidFill>
                  </a:tcPr>
                </a:tc>
              </a:tr>
              <a:tr h="653142">
                <a:tc>
                  <a:txBody>
                    <a:bodyPr/>
                    <a:lstStyle/>
                    <a:p>
                      <a:pPr>
                        <a:defRPr sz="1050" b="1">
                          <a:solidFill>
                            <a:srgbClr val="0F172A"/>
                          </a:solidFill>
                        </a:defRPr>
                      </a:pPr>
                      <a:r>
                        <a:t>Compute Hardware</a:t>
                      </a:r>
                    </a:p>
                  </a:txBody>
                  <a:tcPr/>
                </a:tc>
                <a:tc>
                  <a:txBody>
                    <a:bodyPr/>
                    <a:lstStyle/>
                    <a:p>
                      <a:pPr>
                        <a:defRPr sz="1050"/>
                      </a:pPr>
                      <a:r>
                        <a:t>NVIDIA Tesla T4 GPU (Google Colab)</a:t>
                      </a:r>
                    </a:p>
                  </a:txBody>
                  <a:tcPr/>
                </a:tc>
                <a:tc>
                  <a:txBody>
                    <a:bodyPr/>
                    <a:lstStyle/>
                    <a:p>
                      <a:pPr>
                        <a:defRPr sz="1050"/>
                      </a:pPr>
                      <a:r>
                        <a:t>Identical GPU hardware &amp; CUDA environment</a:t>
                      </a:r>
                    </a:p>
                  </a:txBody>
                  <a:tcPr/>
                </a:tc>
              </a:tr>
              <a:tr h="653142">
                <a:tc>
                  <a:txBody>
                    <a:bodyPr/>
                    <a:lstStyle/>
                    <a:p>
                      <a:pPr>
                        <a:defRPr sz="1050" b="1">
                          <a:solidFill>
                            <a:srgbClr val="0F172A"/>
                          </a:solidFill>
                        </a:defRPr>
                      </a:pPr>
                      <a:r>
                        <a:t>Input Dimensions</a:t>
                      </a:r>
                    </a:p>
                  </a:txBody>
                  <a:tcPr/>
                </a:tc>
                <a:tc>
                  <a:txBody>
                    <a:bodyPr/>
                    <a:lstStyle/>
                    <a:p>
                      <a:pPr>
                        <a:defRPr sz="1050"/>
                      </a:pPr>
                      <a:r>
                        <a:t>Grayscale [B, 1, 48, W] (W &lt;= 1600px)</a:t>
                      </a:r>
                    </a:p>
                  </a:txBody>
                  <a:tcPr/>
                </a:tc>
                <a:tc>
                  <a:txBody>
                    <a:bodyPr/>
                    <a:lstStyle/>
                    <a:p>
                      <a:pPr>
                        <a:defRPr sz="1050"/>
                      </a:pPr>
                      <a:r>
                        <a:t>Aspect ratio preserved; prevents horizontal distortion</a:t>
                      </a:r>
                    </a:p>
                  </a:txBody>
                  <a:tcPr/>
                </a:tc>
              </a:tr>
              <a:tr h="653142">
                <a:tc>
                  <a:txBody>
                    <a:bodyPr/>
                    <a:lstStyle/>
                    <a:p>
                      <a:pPr>
                        <a:defRPr sz="1050" b="1">
                          <a:solidFill>
                            <a:srgbClr val="0F172A"/>
                          </a:solidFill>
                        </a:defRPr>
                      </a:pPr>
                      <a:r>
                        <a:t>Optimization Algorithm</a:t>
                      </a:r>
                    </a:p>
                  </a:txBody>
                  <a:tcPr/>
                </a:tc>
                <a:tc>
                  <a:txBody>
                    <a:bodyPr/>
                    <a:lstStyle/>
                    <a:p>
                      <a:pPr>
                        <a:defRPr sz="1050"/>
                      </a:pPr>
                      <a:r>
                        <a:t>AdamW (beta1=0.9, beta2=0.999, weight_decay=5e-4)</a:t>
                      </a:r>
                    </a:p>
                  </a:txBody>
                  <a:tcPr/>
                </a:tc>
                <a:tc>
                  <a:txBody>
                    <a:bodyPr/>
                    <a:lstStyle/>
                    <a:p>
                      <a:pPr>
                        <a:defRPr sz="1050"/>
                      </a:pPr>
                      <a:r>
                        <a:t>Decoupled weight decay provides superior regularization</a:t>
                      </a:r>
                    </a:p>
                  </a:txBody>
                  <a:tcPr/>
                </a:tc>
              </a:tr>
              <a:tr h="653142">
                <a:tc>
                  <a:txBody>
                    <a:bodyPr/>
                    <a:lstStyle/>
                    <a:p>
                      <a:pPr>
                        <a:defRPr sz="1050" b="1">
                          <a:solidFill>
                            <a:srgbClr val="0F172A"/>
                          </a:solidFill>
                        </a:defRPr>
                      </a:pPr>
                      <a:r>
                        <a:t>Learning Rate Schedule</a:t>
                      </a:r>
                    </a:p>
                  </a:txBody>
                  <a:tcPr/>
                </a:tc>
                <a:tc>
                  <a:txBody>
                    <a:bodyPr/>
                    <a:lstStyle/>
                    <a:p>
                      <a:pPr>
                        <a:defRPr sz="1050"/>
                      </a:pPr>
                      <a:r>
                        <a:t>Cosine Annealing with 3 Warmup Epochs (lr=3e-4)</a:t>
                      </a:r>
                    </a:p>
                  </a:txBody>
                  <a:tcPr/>
                </a:tc>
                <a:tc>
                  <a:txBody>
                    <a:bodyPr/>
                    <a:lstStyle/>
                    <a:p>
                      <a:pPr>
                        <a:defRPr sz="1050"/>
                      </a:pPr>
                      <a:r>
                        <a:t>Eliminates gradient shocks; smooth convergence</a:t>
                      </a:r>
                    </a:p>
                  </a:txBody>
                  <a:tcPr/>
                </a:tc>
              </a:tr>
              <a:tr h="653142">
                <a:tc>
                  <a:txBody>
                    <a:bodyPr/>
                    <a:lstStyle/>
                    <a:p>
                      <a:pPr>
                        <a:defRPr sz="1050" b="1">
                          <a:solidFill>
                            <a:srgbClr val="0F172A"/>
                          </a:solidFill>
                        </a:defRPr>
                      </a:pPr>
                      <a:r>
                        <a:t>Loss Function</a:t>
                      </a:r>
                    </a:p>
                  </a:txBody>
                  <a:tcPr/>
                </a:tc>
                <a:tc>
                  <a:txBody>
                    <a:bodyPr/>
                    <a:lstStyle/>
                    <a:p>
                      <a:pPr>
                        <a:defRPr sz="1050"/>
                      </a:pPr>
                      <a:r>
                        <a:t>nn.CTCLoss(zero_infinity=True)</a:t>
                      </a:r>
                    </a:p>
                  </a:txBody>
                  <a:tcPr/>
                </a:tc>
                <a:tc>
                  <a:txBody>
                    <a:bodyPr/>
                    <a:lstStyle/>
                    <a:p>
                      <a:pPr>
                        <a:defRPr sz="1050"/>
                      </a:pPr>
                      <a:r>
                        <a:t>Enforces monotonic alignment without character bounding boxes</a:t>
                      </a:r>
                    </a:p>
                  </a:txBody>
                  <a:tcPr/>
                </a:tc>
              </a:tr>
              <a:tr h="653148">
                <a:tc>
                  <a:txBody>
                    <a:bodyPr/>
                    <a:lstStyle/>
                    <a:p>
                      <a:pPr>
                        <a:defRPr sz="1050" b="1">
                          <a:solidFill>
                            <a:srgbClr val="0F172A"/>
                          </a:solidFill>
                        </a:defRPr>
                      </a:pPr>
                      <a:r>
                        <a:t>Regularization &amp; Augmentation</a:t>
                      </a:r>
                    </a:p>
                  </a:txBody>
                  <a:tcPr/>
                </a:tc>
                <a:tc>
                  <a:txBody>
                    <a:bodyPr/>
                    <a:lstStyle/>
                    <a:p>
                      <a:pPr>
                        <a:defRPr sz="1050"/>
                      </a:pPr>
                      <a:r>
                        <a:t>Elastic distortion, perspective warp, EMA (decay=0.999)</a:t>
                      </a:r>
                    </a:p>
                  </a:txBody>
                  <a:tcPr/>
                </a:tc>
                <a:tc>
                  <a:txBody>
                    <a:bodyPr/>
                    <a:lstStyle/>
                    <a:p>
                      <a:pPr>
                        <a:defRPr sz="1050"/>
                      </a:pPr>
                      <a:r>
                        <a:t>Robustness against writer variation &amp; noisy ink strokes</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Empirical Evaluation on Held-Out Test Writers (W007, W0011)</a:t>
            </a:r>
          </a:p>
        </p:txBody>
      </p:sp>
      <p:graphicFrame>
        <p:nvGraphicFramePr>
          <p:cNvPr id="4" name="Table 3"/>
          <p:cNvGraphicFramePr>
            <a:graphicFrameLocks noGrp="1"/>
          </p:cNvGraphicFramePr>
          <p:nvPr/>
        </p:nvGraphicFramePr>
        <p:xfrm>
          <a:off x="731520" y="1463040"/>
          <a:ext cx="10728655" cy="2377440"/>
        </p:xfrm>
        <a:graphic>
          <a:graphicData uri="http://schemas.openxmlformats.org/drawingml/2006/table">
            <a:tbl>
              <a:tblPr firstRow="1" bandRow="1">
                <a:tableStyleId>{5C22544A-7EE6-4342-B048-85BDC9FD1C3A}</a:tableStyleId>
              </a:tblPr>
              <a:tblGrid>
                <a:gridCol w="548640"/>
                <a:gridCol w="2468880"/>
                <a:gridCol w="1188720"/>
                <a:gridCol w="1280160"/>
                <a:gridCol w="1371600"/>
                <a:gridCol w="1280160"/>
                <a:gridCol w="1280160"/>
                <a:gridCol w="1310335"/>
              </a:tblGrid>
              <a:tr h="594360">
                <a:tc>
                  <a:txBody>
                    <a:bodyPr/>
                    <a:lstStyle/>
                    <a:p>
                      <a:pPr>
                        <a:defRPr sz="1000" b="1">
                          <a:solidFill>
                            <a:srgbClr val="FFFFFF"/>
                          </a:solidFill>
                        </a:defRPr>
                      </a:pPr>
                      <a:r>
                        <a:t>Rank</a:t>
                      </a:r>
                    </a:p>
                  </a:txBody>
                  <a:tcPr>
                    <a:solidFill>
                      <a:srgbClr val="1E293B"/>
                    </a:solidFill>
                  </a:tcPr>
                </a:tc>
                <a:tc>
                  <a:txBody>
                    <a:bodyPr/>
                    <a:lstStyle/>
                    <a:p>
                      <a:pPr>
                        <a:defRPr sz="1000" b="1">
                          <a:solidFill>
                            <a:srgbClr val="FFFFFF"/>
                          </a:solidFill>
                        </a:defRPr>
                      </a:pPr>
                      <a:r>
                        <a:t>Model Architecture</a:t>
                      </a:r>
                    </a:p>
                  </a:txBody>
                  <a:tcPr>
                    <a:solidFill>
                      <a:srgbClr val="1E293B"/>
                    </a:solidFill>
                  </a:tcPr>
                </a:tc>
                <a:tc>
                  <a:txBody>
                    <a:bodyPr/>
                    <a:lstStyle/>
                    <a:p>
                      <a:pPr>
                        <a:defRPr sz="1000" b="1">
                          <a:solidFill>
                            <a:srgbClr val="FFFFFF"/>
                          </a:solidFill>
                        </a:defRPr>
                      </a:pPr>
                      <a:r>
                        <a:t>Parameters</a:t>
                      </a:r>
                    </a:p>
                  </a:txBody>
                  <a:tcPr>
                    <a:solidFill>
                      <a:srgbClr val="1E293B"/>
                    </a:solidFill>
                  </a:tcPr>
                </a:tc>
                <a:tc>
                  <a:txBody>
                    <a:bodyPr/>
                    <a:lstStyle/>
                    <a:p>
                      <a:pPr>
                        <a:defRPr sz="1000" b="1">
                          <a:solidFill>
                            <a:srgbClr val="FFFFFF"/>
                          </a:solidFill>
                        </a:defRPr>
                      </a:pPr>
                      <a:r>
                        <a:t>Synth CER</a:t>
                      </a:r>
                    </a:p>
                  </a:txBody>
                  <a:tcPr>
                    <a:solidFill>
                      <a:srgbClr val="1E293B"/>
                    </a:solidFill>
                  </a:tcPr>
                </a:tc>
                <a:tc>
                  <a:txBody>
                    <a:bodyPr/>
                    <a:lstStyle/>
                    <a:p>
                      <a:pPr>
                        <a:defRPr sz="1000" b="1">
                          <a:solidFill>
                            <a:srgbClr val="FFFFFF"/>
                          </a:solidFill>
                        </a:defRPr>
                      </a:pPr>
                      <a:r>
                        <a:t>Held-Out CER</a:t>
                      </a:r>
                    </a:p>
                  </a:txBody>
                  <a:tcPr>
                    <a:solidFill>
                      <a:srgbClr val="1E293B"/>
                    </a:solidFill>
                  </a:tcPr>
                </a:tc>
                <a:tc>
                  <a:txBody>
                    <a:bodyPr/>
                    <a:lstStyle/>
                    <a:p>
                      <a:pPr>
                        <a:defRPr sz="1000" b="1">
                          <a:solidFill>
                            <a:srgbClr val="FFFFFF"/>
                          </a:solidFill>
                        </a:defRPr>
                      </a:pPr>
                      <a:r>
                        <a:t>Char Acc %</a:t>
                      </a:r>
                    </a:p>
                  </a:txBody>
                  <a:tcPr>
                    <a:solidFill>
                      <a:srgbClr val="1E293B"/>
                    </a:solidFill>
                  </a:tcPr>
                </a:tc>
                <a:tc>
                  <a:txBody>
                    <a:bodyPr/>
                    <a:lstStyle/>
                    <a:p>
                      <a:pPr>
                        <a:defRPr sz="1000" b="1">
                          <a:solidFill>
                            <a:srgbClr val="FFFFFF"/>
                          </a:solidFill>
                        </a:defRPr>
                      </a:pPr>
                      <a:r>
                        <a:t>Word Acc %</a:t>
                      </a:r>
                    </a:p>
                  </a:txBody>
                  <a:tcPr>
                    <a:solidFill>
                      <a:srgbClr val="1E293B"/>
                    </a:solidFill>
                  </a:tcPr>
                </a:tc>
                <a:tc>
                  <a:txBody>
                    <a:bodyPr/>
                    <a:lstStyle/>
                    <a:p>
                      <a:pPr>
                        <a:defRPr sz="1000" b="1">
                          <a:solidFill>
                            <a:srgbClr val="FFFFFF"/>
                          </a:solidFill>
                        </a:defRPr>
                      </a:pPr>
                      <a:r>
                        <a:t>Exact Line %</a:t>
                      </a:r>
                    </a:p>
                  </a:txBody>
                  <a:tcPr>
                    <a:solidFill>
                      <a:srgbClr val="1E293B"/>
                    </a:solidFill>
                  </a:tcPr>
                </a:tc>
              </a:tr>
              <a:tr h="594360">
                <a:tc>
                  <a:txBody>
                    <a:bodyPr/>
                    <a:lstStyle/>
                    <a:p>
                      <a:pPr>
                        <a:defRPr sz="1050" b="1">
                          <a:solidFill>
                            <a:srgbClr val="4338CA"/>
                          </a:solidFill>
                        </a:defRPr>
                      </a:pPr>
                      <a:r>
                        <a:t>1st</a:t>
                      </a:r>
                    </a:p>
                  </a:txBody>
                  <a:tcPr>
                    <a:solidFill>
                      <a:srgbClr val="EEF2FF"/>
                    </a:solidFill>
                  </a:tcPr>
                </a:tc>
                <a:tc>
                  <a:txBody>
                    <a:bodyPr/>
                    <a:lstStyle/>
                    <a:p>
                      <a:pPr>
                        <a:defRPr sz="1050" b="1">
                          <a:solidFill>
                            <a:srgbClr val="4338CA"/>
                          </a:solidFill>
                        </a:defRPr>
                      </a:pPr>
                      <a:r>
                        <a:t>A1: Baseline CRNN (VGG + BiLSTM)</a:t>
                      </a:r>
                    </a:p>
                  </a:txBody>
                  <a:tcPr>
                    <a:solidFill>
                      <a:srgbClr val="EEF2FF"/>
                    </a:solidFill>
                  </a:tcPr>
                </a:tc>
                <a:tc>
                  <a:txBody>
                    <a:bodyPr/>
                    <a:lstStyle/>
                    <a:p>
                      <a:pPr>
                        <a:defRPr sz="1050" b="1">
                          <a:solidFill>
                            <a:srgbClr val="4338CA"/>
                          </a:solidFill>
                        </a:defRPr>
                      </a:pPr>
                      <a:r>
                        <a:t>8.49 M</a:t>
                      </a:r>
                    </a:p>
                  </a:txBody>
                  <a:tcPr>
                    <a:solidFill>
                      <a:srgbClr val="EEF2FF"/>
                    </a:solidFill>
                  </a:tcPr>
                </a:tc>
                <a:tc>
                  <a:txBody>
                    <a:bodyPr/>
                    <a:lstStyle/>
                    <a:p>
                      <a:pPr>
                        <a:defRPr sz="1050" b="1">
                          <a:solidFill>
                            <a:srgbClr val="4338CA"/>
                          </a:solidFill>
                        </a:defRPr>
                      </a:pPr>
                      <a:r>
                        <a:t>0.32%</a:t>
                      </a:r>
                    </a:p>
                  </a:txBody>
                  <a:tcPr>
                    <a:solidFill>
                      <a:srgbClr val="EEF2FF"/>
                    </a:solidFill>
                  </a:tcPr>
                </a:tc>
                <a:tc>
                  <a:txBody>
                    <a:bodyPr/>
                    <a:lstStyle/>
                    <a:p>
                      <a:pPr>
                        <a:defRPr sz="1050" b="1">
                          <a:solidFill>
                            <a:srgbClr val="4338CA"/>
                          </a:solidFill>
                        </a:defRPr>
                      </a:pPr>
                      <a:r>
                        <a:t>20.06%</a:t>
                      </a:r>
                    </a:p>
                  </a:txBody>
                  <a:tcPr>
                    <a:solidFill>
                      <a:srgbClr val="EEF2FF"/>
                    </a:solidFill>
                  </a:tcPr>
                </a:tc>
                <a:tc>
                  <a:txBody>
                    <a:bodyPr/>
                    <a:lstStyle/>
                    <a:p>
                      <a:pPr>
                        <a:defRPr sz="1050" b="1">
                          <a:solidFill>
                            <a:srgbClr val="4338CA"/>
                          </a:solidFill>
                        </a:defRPr>
                      </a:pPr>
                      <a:r>
                        <a:t>79.94%</a:t>
                      </a:r>
                    </a:p>
                  </a:txBody>
                  <a:tcPr>
                    <a:solidFill>
                      <a:srgbClr val="EEF2FF"/>
                    </a:solidFill>
                  </a:tcPr>
                </a:tc>
                <a:tc>
                  <a:txBody>
                    <a:bodyPr/>
                    <a:lstStyle/>
                    <a:p>
                      <a:pPr>
                        <a:defRPr sz="1050" b="1">
                          <a:solidFill>
                            <a:srgbClr val="4338CA"/>
                          </a:solidFill>
                        </a:defRPr>
                      </a:pPr>
                      <a:r>
                        <a:t>25.85%</a:t>
                      </a:r>
                    </a:p>
                  </a:txBody>
                  <a:tcPr>
                    <a:solidFill>
                      <a:srgbClr val="EEF2FF"/>
                    </a:solidFill>
                  </a:tcPr>
                </a:tc>
                <a:tc>
                  <a:txBody>
                    <a:bodyPr/>
                    <a:lstStyle/>
                    <a:p>
                      <a:pPr>
                        <a:defRPr sz="1050" b="1">
                          <a:solidFill>
                            <a:srgbClr val="4338CA"/>
                          </a:solidFill>
                        </a:defRPr>
                      </a:pPr>
                      <a:r>
                        <a:t>10.00%</a:t>
                      </a:r>
                    </a:p>
                  </a:txBody>
                  <a:tcPr>
                    <a:solidFill>
                      <a:srgbClr val="EEF2FF"/>
                    </a:solidFill>
                  </a:tcPr>
                </a:tc>
              </a:tr>
              <a:tr h="594360">
                <a:tc>
                  <a:txBody>
                    <a:bodyPr/>
                    <a:lstStyle/>
                    <a:p>
                      <a:pPr>
                        <a:defRPr sz="1050"/>
                      </a:pPr>
                      <a:r>
                        <a:t>2nd</a:t>
                      </a:r>
                    </a:p>
                  </a:txBody>
                  <a:tcPr/>
                </a:tc>
                <a:tc>
                  <a:txBody>
                    <a:bodyPr/>
                    <a:lstStyle/>
                    <a:p>
                      <a:pPr>
                        <a:defRPr sz="1050"/>
                      </a:pPr>
                      <a:r>
                        <a:t>A3: Transformer Encoder</a:t>
                      </a:r>
                    </a:p>
                  </a:txBody>
                  <a:tcPr/>
                </a:tc>
                <a:tc>
                  <a:txBody>
                    <a:bodyPr/>
                    <a:lstStyle/>
                    <a:p>
                      <a:pPr>
                        <a:defRPr sz="1050"/>
                      </a:pPr>
                      <a:r>
                        <a:t>9.54 M</a:t>
                      </a:r>
                    </a:p>
                  </a:txBody>
                  <a:tcPr/>
                </a:tc>
                <a:tc>
                  <a:txBody>
                    <a:bodyPr/>
                    <a:lstStyle/>
                    <a:p>
                      <a:pPr>
                        <a:defRPr sz="1050"/>
                      </a:pPr>
                      <a:r>
                        <a:t>1.63%</a:t>
                      </a:r>
                    </a:p>
                  </a:txBody>
                  <a:tcPr/>
                </a:tc>
                <a:tc>
                  <a:txBody>
                    <a:bodyPr/>
                    <a:lstStyle/>
                    <a:p>
                      <a:pPr>
                        <a:defRPr sz="1050"/>
                      </a:pPr>
                      <a:r>
                        <a:t>22.92%</a:t>
                      </a:r>
                    </a:p>
                  </a:txBody>
                  <a:tcPr/>
                </a:tc>
                <a:tc>
                  <a:txBody>
                    <a:bodyPr/>
                    <a:lstStyle/>
                    <a:p>
                      <a:pPr>
                        <a:defRPr sz="1050"/>
                      </a:pPr>
                      <a:r>
                        <a:t>77.08%</a:t>
                      </a:r>
                    </a:p>
                  </a:txBody>
                  <a:tcPr/>
                </a:tc>
                <a:tc>
                  <a:txBody>
                    <a:bodyPr/>
                    <a:lstStyle/>
                    <a:p>
                      <a:pPr>
                        <a:defRPr sz="1050"/>
                      </a:pPr>
                      <a:r>
                        <a:t>19.73%</a:t>
                      </a:r>
                    </a:p>
                  </a:txBody>
                  <a:tcPr/>
                </a:tc>
                <a:tc>
                  <a:txBody>
                    <a:bodyPr/>
                    <a:lstStyle/>
                    <a:p>
                      <a:pPr>
                        <a:defRPr sz="1050"/>
                      </a:pPr>
                      <a:r>
                        <a:t>2.00%</a:t>
                      </a:r>
                    </a:p>
                  </a:txBody>
                  <a:tcPr/>
                </a:tc>
              </a:tr>
              <a:tr h="594360">
                <a:tc>
                  <a:txBody>
                    <a:bodyPr/>
                    <a:lstStyle/>
                    <a:p>
                      <a:pPr>
                        <a:defRPr sz="1050"/>
                      </a:pPr>
                      <a:r>
                        <a:t>3rd</a:t>
                      </a:r>
                    </a:p>
                  </a:txBody>
                  <a:tcPr/>
                </a:tc>
                <a:tc>
                  <a:txBody>
                    <a:bodyPr/>
                    <a:lstStyle/>
                    <a:p>
                      <a:pPr>
                        <a:defRPr sz="1050"/>
                      </a:pPr>
                      <a:r>
                        <a:t>A2: Transfer Learning (ResNet-18)</a:t>
                      </a:r>
                    </a:p>
                  </a:txBody>
                  <a:tcPr/>
                </a:tc>
                <a:tc>
                  <a:txBody>
                    <a:bodyPr/>
                    <a:lstStyle/>
                    <a:p>
                      <a:pPr>
                        <a:defRPr sz="1050"/>
                      </a:pPr>
                      <a:r>
                        <a:t>30.95 M</a:t>
                      </a:r>
                    </a:p>
                  </a:txBody>
                  <a:tcPr/>
                </a:tc>
                <a:tc>
                  <a:txBody>
                    <a:bodyPr/>
                    <a:lstStyle/>
                    <a:p>
                      <a:pPr>
                        <a:defRPr sz="1050"/>
                      </a:pPr>
                      <a:r>
                        <a:t>1.83%</a:t>
                      </a:r>
                    </a:p>
                  </a:txBody>
                  <a:tcPr/>
                </a:tc>
                <a:tc>
                  <a:txBody>
                    <a:bodyPr/>
                    <a:lstStyle/>
                    <a:p>
                      <a:pPr>
                        <a:defRPr sz="1050"/>
                      </a:pPr>
                      <a:r>
                        <a:t>25.78%</a:t>
                      </a:r>
                    </a:p>
                  </a:txBody>
                  <a:tcPr/>
                </a:tc>
                <a:tc>
                  <a:txBody>
                    <a:bodyPr/>
                    <a:lstStyle/>
                    <a:p>
                      <a:pPr>
                        <a:defRPr sz="1050"/>
                      </a:pPr>
                      <a:r>
                        <a:t>74.22%</a:t>
                      </a:r>
                    </a:p>
                  </a:txBody>
                  <a:tcPr/>
                </a:tc>
                <a:tc>
                  <a:txBody>
                    <a:bodyPr/>
                    <a:lstStyle/>
                    <a:p>
                      <a:pPr>
                        <a:defRPr sz="1050"/>
                      </a:pPr>
                      <a:r>
                        <a:t>12.24%</a:t>
                      </a:r>
                    </a:p>
                  </a:txBody>
                  <a:tcPr/>
                </a:tc>
                <a:tc>
                  <a:txBody>
                    <a:bodyPr/>
                    <a:lstStyle/>
                    <a:p>
                      <a:pPr>
                        <a:defRPr sz="1050"/>
                      </a:pPr>
                      <a:r>
                        <a:t>0.00%</a:t>
                      </a:r>
                    </a:p>
                  </a:txBody>
                  <a:tcPr/>
                </a:tc>
              </a:tr>
            </a:tbl>
          </a:graphicData>
        </a:graphic>
      </p:graphicFrame>
      <p:sp>
        <p:nvSpPr>
          <p:cNvPr id="5" name="Rounded Rectangle 4"/>
          <p:cNvSpPr/>
          <p:nvPr/>
        </p:nvSpPr>
        <p:spPr>
          <a:xfrm>
            <a:off x="731520" y="4114800"/>
            <a:ext cx="34134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06240"/>
            <a:ext cx="3139135" cy="1828800"/>
          </a:xfrm>
          <a:prstGeom prst="rect">
            <a:avLst/>
          </a:prstGeom>
          <a:noFill/>
        </p:spPr>
        <p:txBody>
          <a:bodyPr wrap="square">
            <a:spAutoFit/>
          </a:bodyPr>
          <a:lstStyle/>
          <a:p>
            <a:pPr>
              <a:defRPr sz="1200" b="1">
                <a:solidFill>
                  <a:srgbClr val="4338CA"/>
                </a:solidFill>
              </a:defRPr>
            </a:pPr>
            <a:r>
              <a:t>🥇 Winner: A1 Baseline CRNN</a:t>
            </a:r>
          </a:p>
          <a:p>
            <a:pPr>
              <a:spcBef>
                <a:spcPts val="400"/>
              </a:spcBef>
              <a:defRPr sz="1000">
                <a:solidFill>
                  <a:srgbClr val="334155"/>
                </a:solidFill>
              </a:defRPr>
            </a:pPr>
            <a:r>
              <a:t>Achieved #1 across all metrics: lowest CER (20.06%), highest Char Accuracy (79.94%), and 10% exact whole-line transcription while being the most parameter-efficient (8.49M params).</a:t>
            </a:r>
          </a:p>
        </p:txBody>
      </p:sp>
      <p:sp>
        <p:nvSpPr>
          <p:cNvPr id="7" name="Rounded Rectangle 6"/>
          <p:cNvSpPr/>
          <p:nvPr/>
        </p:nvSpPr>
        <p:spPr>
          <a:xfrm>
            <a:off x="4389120" y="4114800"/>
            <a:ext cx="34134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4206240"/>
            <a:ext cx="3139135" cy="1828800"/>
          </a:xfrm>
          <a:prstGeom prst="rect">
            <a:avLst/>
          </a:prstGeom>
          <a:noFill/>
        </p:spPr>
        <p:txBody>
          <a:bodyPr wrap="square">
            <a:spAutoFit/>
          </a:bodyPr>
          <a:lstStyle/>
          <a:p>
            <a:pPr>
              <a:defRPr sz="1200" b="1">
                <a:solidFill>
                  <a:srgbClr val="0F172A"/>
                </a:solidFill>
              </a:defRPr>
            </a:pPr>
            <a:r>
              <a:t>🥈 BiLSTM Beat Transformer (A1 vs A3)</a:t>
            </a:r>
          </a:p>
          <a:p>
            <a:pPr>
              <a:spcBef>
                <a:spcPts val="400"/>
              </a:spcBef>
              <a:defRPr sz="1000">
                <a:solidFill>
                  <a:srgbClr val="334155"/>
                </a:solidFill>
              </a:defRPr>
            </a:pPr>
            <a:r>
              <a:t>BiLSTM's strong sequential recurrence inductive bias was more sample-efficient on limited handwriting data than Transformer's unconstrained self-attention.</a:t>
            </a:r>
          </a:p>
        </p:txBody>
      </p:sp>
      <p:sp>
        <p:nvSpPr>
          <p:cNvPr id="9" name="Rounded Rectangle 8"/>
          <p:cNvSpPr/>
          <p:nvPr/>
        </p:nvSpPr>
        <p:spPr>
          <a:xfrm>
            <a:off x="8046720" y="4114800"/>
            <a:ext cx="34134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4206240"/>
            <a:ext cx="3139135" cy="1828800"/>
          </a:xfrm>
          <a:prstGeom prst="rect">
            <a:avLst/>
          </a:prstGeom>
          <a:noFill/>
        </p:spPr>
        <p:txBody>
          <a:bodyPr wrap="square">
            <a:spAutoFit/>
          </a:bodyPr>
          <a:lstStyle/>
          <a:p>
            <a:pPr>
              <a:defRPr sz="1200" b="1">
                <a:solidFill>
                  <a:srgbClr val="0F172A"/>
                </a:solidFill>
              </a:defRPr>
            </a:pPr>
            <a:r>
              <a:t>🥉 Why Transfer Learning Ranked 3rd</a:t>
            </a:r>
          </a:p>
          <a:p>
            <a:pPr>
              <a:spcBef>
                <a:spcPts val="400"/>
              </a:spcBef>
              <a:defRPr sz="1000">
                <a:solidFill>
                  <a:srgbClr val="334155"/>
                </a:solidFill>
              </a:defRPr>
            </a:pPr>
            <a:r>
              <a:t>ResNet-18 had a domain mismatch (natural 3D color photos vs 1-channel binary pen strokes) and its 31M parameters overfitted small handwriting 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Convergence Dynamics: Overlaid Validation Learning Curves</a:t>
            </a:r>
          </a:p>
        </p:txBody>
      </p:sp>
      <p:pic>
        <p:nvPicPr>
          <p:cNvPr id="4" name="Picture 3" descr="overlaid_learning_curves.png"/>
          <p:cNvPicPr>
            <a:picLocks noChangeAspect="1"/>
          </p:cNvPicPr>
          <p:nvPr/>
        </p:nvPicPr>
        <p:blipFill>
          <a:blip r:embed="rId2"/>
          <a:stretch>
            <a:fillRect/>
          </a:stretch>
        </p:blipFill>
        <p:spPr>
          <a:xfrm>
            <a:off x="731520" y="1463040"/>
            <a:ext cx="6583680" cy="3291840"/>
          </a:xfrm>
          <a:prstGeom prst="rect">
            <a:avLst/>
          </a:prstGeom>
        </p:spPr>
      </p:pic>
      <p:sp>
        <p:nvSpPr>
          <p:cNvPr id="5" name="Rounded Rectangle 4"/>
          <p:cNvSpPr/>
          <p:nvPr/>
        </p:nvSpPr>
        <p:spPr>
          <a:xfrm>
            <a:off x="7589520" y="1463040"/>
            <a:ext cx="38404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645920"/>
            <a:ext cx="3474720" cy="4297680"/>
          </a:xfrm>
          <a:prstGeom prst="rect">
            <a:avLst/>
          </a:prstGeom>
          <a:noFill/>
        </p:spPr>
        <p:txBody>
          <a:bodyPr wrap="square">
            <a:spAutoFit/>
          </a:bodyPr>
          <a:lstStyle/>
          <a:p>
            <a:pPr>
              <a:defRPr sz="1600" b="1">
                <a:solidFill>
                  <a:srgbClr val="0F172A"/>
                </a:solidFill>
              </a:defRPr>
            </a:pPr>
            <a:r>
              <a:t>Convergence Analysis</a:t>
            </a:r>
          </a:p>
          <a:p>
            <a:pPr>
              <a:spcBef>
                <a:spcPts val="800"/>
              </a:spcBef>
              <a:defRPr sz="1050">
                <a:solidFill>
                  <a:srgbClr val="334155"/>
                </a:solidFill>
              </a:defRPr>
            </a:pPr>
            <a:r>
              <a:t>• Blue Curve (A1 Baseline CRNN):</a:t>
            </a:r>
            <a:br/>
            <a:r>
              <a:t>  - Rapidly descended from 46% to ~10.9% validation CER</a:t>
            </a:r>
            <a:br/>
            <a:r>
              <a:t>  - Exhibited the lowest and most stable error trajectory</a:t>
            </a:r>
            <a:br/>
            <a:br/>
            <a:r>
              <a:t>• Green Curve (A3 Transformer):</a:t>
            </a:r>
            <a:br/>
            <a:r>
              <a:t>  - Descended to ~14.7% validation CER</a:t>
            </a:r>
            <a:br/>
            <a:r>
              <a:t>  - Stable but plateaued higher than BiLSTM</a:t>
            </a:r>
            <a:br/>
            <a:br/>
            <a:r>
              <a:t>• Orange Curve (A2 Transfer ResNet-18):</a:t>
            </a:r>
            <a:br/>
            <a:r>
              <a:t>  - Stabilized around ~18.7% validation CER</a:t>
            </a:r>
            <a:br/>
            <a:r>
              <a:t>  - Higher error floor due to capacity bloat</a:t>
            </a:r>
            <a:br/>
            <a:br/>
            <a:r>
              <a:t>• Regularization Impact:</a:t>
            </a:r>
            <a:br/>
            <a:r>
              <a:t>  - Zero validation spikes thanks to EMA (0.999) and Cosine warmup.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Qualitative Error Analysis: Successes &amp; Linguistic Failure Modes</a:t>
            </a:r>
          </a:p>
        </p:txBody>
      </p:sp>
      <p:sp>
        <p:nvSpPr>
          <p:cNvPr id="4" name="Rounded Rectangle 3"/>
          <p:cNvSpPr/>
          <p:nvPr/>
        </p:nvSpPr>
        <p:spPr>
          <a:xfrm>
            <a:off x="731520" y="1463040"/>
            <a:ext cx="34134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47695" cy="4297680"/>
          </a:xfrm>
          <a:prstGeom prst="rect">
            <a:avLst/>
          </a:prstGeom>
          <a:noFill/>
        </p:spPr>
        <p:txBody>
          <a:bodyPr wrap="square">
            <a:spAutoFit/>
          </a:bodyPr>
          <a:lstStyle/>
          <a:p>
            <a:pPr>
              <a:defRPr sz="1300" b="1">
                <a:solidFill>
                  <a:srgbClr val="0D9488"/>
                </a:solidFill>
              </a:defRPr>
            </a:pPr>
            <a:r>
              <a:t>1. Successful Sentence Transcription</a:t>
            </a:r>
          </a:p>
          <a:p>
            <a:pPr>
              <a:spcBef>
                <a:spcPts val="800"/>
              </a:spcBef>
              <a:defRPr sz="1050">
                <a:solidFill>
                  <a:srgbClr val="334155"/>
                </a:solidFill>
              </a:defRPr>
            </a:pPr>
            <a:r>
              <a:t>Ground Truth: ព្រឹកនេះ នៅក្នុងបន្ទប់រៀនយើងមានសិស្សជាច្រើននាក់</a:t>
            </a:r>
            <a:br/>
            <a:r>
              <a:t>A1 Prediction: ព្រឹកនេះ នៅក្នុងបន្ទប់រៀនយើងមានសិស្សជាច្រើននាក់</a:t>
            </a:r>
            <a:br/>
            <a:br/>
            <a:r>
              <a:t>• Outcome: 100% exact match across all 58 characters!</a:t>
            </a:r>
            <a:br/>
            <a:r>
              <a:t>• Successfully recovered subscript coeng ្រ, upper vowels ឹ, ើ, and dependent vowel ៀ without boundary drift.</a:t>
            </a:r>
          </a:p>
        </p:txBody>
      </p:sp>
      <p:sp>
        <p:nvSpPr>
          <p:cNvPr id="6" name="Rounded Rectangle 5"/>
          <p:cNvSpPr/>
          <p:nvPr/>
        </p:nvSpPr>
        <p:spPr>
          <a:xfrm>
            <a:off x="4389120" y="1463040"/>
            <a:ext cx="34134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47695" cy="4297680"/>
          </a:xfrm>
          <a:prstGeom prst="rect">
            <a:avLst/>
          </a:prstGeom>
          <a:noFill/>
        </p:spPr>
        <p:txBody>
          <a:bodyPr wrap="square">
            <a:spAutoFit/>
          </a:bodyPr>
          <a:lstStyle/>
          <a:p>
            <a:pPr>
              <a:defRPr sz="1300" b="1">
                <a:solidFill>
                  <a:srgbClr val="4338CA"/>
                </a:solidFill>
              </a:defRPr>
            </a:pPr>
            <a:r>
              <a:t>2. Subscript Coeng Confusion</a:t>
            </a:r>
          </a:p>
          <a:p>
            <a:pPr>
              <a:spcBef>
                <a:spcPts val="800"/>
              </a:spcBef>
              <a:defRPr sz="1050">
                <a:solidFill>
                  <a:srgbClr val="334155"/>
                </a:solidFill>
              </a:defRPr>
            </a:pPr>
            <a:r>
              <a:t>Ground Truth: ក្ប (Base ក + Coeng ្ + Subscript ប)</a:t>
            </a:r>
            <a:br/>
            <a:r>
              <a:t>Model Output: ក (Subscript omitted)</a:t>
            </a:r>
            <a:br/>
            <a:br/>
            <a:r>
              <a:t>• Cause: In faint or hurried handwriting, subscript strokes have low pixel contrast.</a:t>
            </a:r>
            <a:br/>
            <a:r>
              <a:t>• Impact: The feature downsampling layer occasionally misses faint subscript ink, collapsing it into the base consonant.</a:t>
            </a:r>
          </a:p>
        </p:txBody>
      </p:sp>
      <p:sp>
        <p:nvSpPr>
          <p:cNvPr id="8" name="Rounded Rectangle 7"/>
          <p:cNvSpPr/>
          <p:nvPr/>
        </p:nvSpPr>
        <p:spPr>
          <a:xfrm>
            <a:off x="8046720" y="1463040"/>
            <a:ext cx="34134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47695" cy="4297680"/>
          </a:xfrm>
          <a:prstGeom prst="rect">
            <a:avLst/>
          </a:prstGeom>
          <a:noFill/>
        </p:spPr>
        <p:txBody>
          <a:bodyPr wrap="square">
            <a:spAutoFit/>
          </a:bodyPr>
          <a:lstStyle/>
          <a:p>
            <a:pPr>
              <a:defRPr sz="1300" b="1">
                <a:solidFill>
                  <a:srgbClr val="E11D48"/>
                </a:solidFill>
              </a:defRPr>
            </a:pPr>
            <a:r>
              <a:t>3. Visual Twin Character Ambiguity</a:t>
            </a:r>
          </a:p>
          <a:p>
            <a:pPr>
              <a:spcBef>
                <a:spcPts val="800"/>
              </a:spcBef>
              <a:defRPr sz="1050">
                <a:solidFill>
                  <a:srgbClr val="334155"/>
                </a:solidFill>
              </a:defRPr>
            </a:pPr>
            <a:r>
              <a:t>Ground Truth: ព្រឹកនោះ → Prediction: ព្រឹកនេះ (នោះ vs នេះ)</a:t>
            </a:r>
            <a:br/>
            <a:r>
              <a:t>Ground Truth: ព → Prediction: យ (Single vs double loop)</a:t>
            </a:r>
            <a:br/>
            <a:br/>
            <a:r>
              <a:t>• Cause: Cursive pen loops collapse in natural handwriting, making characters visually identical at 48px height.</a:t>
            </a:r>
            <a:br/>
            <a:r>
              <a:t>• Solution: Requires sentence-level language modeling for semantic disambiguation.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Live Inference Demo &amp; Production Software Artifacts</a:t>
            </a:r>
          </a:p>
        </p:txBody>
      </p:sp>
      <p:pic>
        <p:nvPicPr>
          <p:cNvPr id="4" name="Picture 3" descr="live_demo_output.png"/>
          <p:cNvPicPr>
            <a:picLocks noChangeAspect="1"/>
          </p:cNvPicPr>
          <p:nvPr/>
        </p:nvPicPr>
        <p:blipFill>
          <a:blip r:embed="rId2"/>
          <a:stretch>
            <a:fillRect/>
          </a:stretch>
        </p:blipFill>
        <p:spPr>
          <a:xfrm>
            <a:off x="731520" y="1463040"/>
            <a:ext cx="6583680" cy="1719986"/>
          </a:xfrm>
          <a:prstGeom prst="rect">
            <a:avLst/>
          </a:prstGeom>
        </p:spPr>
      </p:pic>
      <p:sp>
        <p:nvSpPr>
          <p:cNvPr id="5" name="Rounded Rectangle 4"/>
          <p:cNvSpPr/>
          <p:nvPr/>
        </p:nvSpPr>
        <p:spPr>
          <a:xfrm>
            <a:off x="731520" y="3474720"/>
            <a:ext cx="6583680" cy="2651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57600"/>
            <a:ext cx="6217920" cy="2286000"/>
          </a:xfrm>
          <a:prstGeom prst="rect">
            <a:avLst/>
          </a:prstGeom>
          <a:noFill/>
        </p:spPr>
        <p:txBody>
          <a:bodyPr wrap="square">
            <a:spAutoFit/>
          </a:bodyPr>
          <a:lstStyle/>
          <a:p>
            <a:pPr>
              <a:defRPr sz="1100" b="1">
                <a:solidFill>
                  <a:srgbClr val="A5B4FC"/>
                </a:solidFill>
              </a:defRPr>
            </a:pPr>
            <a:r>
              <a:t>Live Terminal Inference Command:</a:t>
            </a:r>
          </a:p>
          <a:p>
            <a:pPr>
              <a:spcBef>
                <a:spcPts val="400"/>
              </a:spcBef>
              <a:defRPr sz="1000">
                <a:solidFill>
                  <a:srgbClr val="34D399"/>
                </a:solidFill>
                <a:latin typeface="Courier New"/>
              </a:defRPr>
            </a:pPr>
            <a:r>
              <a:t>$ python scripts/demo_predict.py \</a:t>
            </a:r>
            <a:br/>
            <a:r>
              <a:t>    --image data/handwritten_external/W0011/lines_raw/W0011_P001_L001.png \</a:t>
            </a:r>
            <a:br/>
            <a:r>
              <a:t>    --checkpoint checkpoints/a1_baseline_finetuned_best.pt \</a:t>
            </a:r>
            <a:br/>
            <a:r>
              <a:t>    --vocab-path data/metadata/char_to_idx.json \</a:t>
            </a:r>
            <a:br/>
            <a:r>
              <a:t>    --approach baseline</a:t>
            </a:r>
            <a:br/>
            <a:br/>
            <a:r>
              <a:t>✓ Prediction: ព្រឹកនេះ នៅក្នុងបន្ទប់រៀនយើងមានសិស្សជាច្រើននាក់</a:t>
            </a:r>
          </a:p>
        </p:txBody>
      </p:sp>
      <p:sp>
        <p:nvSpPr>
          <p:cNvPr id="7" name="Rounded Rectangle 6"/>
          <p:cNvSpPr/>
          <p:nvPr/>
        </p:nvSpPr>
        <p:spPr>
          <a:xfrm>
            <a:off x="7589520" y="1463040"/>
            <a:ext cx="38404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645920"/>
            <a:ext cx="3474720" cy="4297680"/>
          </a:xfrm>
          <a:prstGeom prst="rect">
            <a:avLst/>
          </a:prstGeom>
          <a:noFill/>
        </p:spPr>
        <p:txBody>
          <a:bodyPr wrap="square">
            <a:spAutoFit/>
          </a:bodyPr>
          <a:lstStyle/>
          <a:p>
            <a:pPr>
              <a:defRPr sz="1600" b="1">
                <a:solidFill>
                  <a:srgbClr val="4338CA"/>
                </a:solidFill>
              </a:defRPr>
            </a:pPr>
            <a:r>
              <a:t>Engineering Deliverables</a:t>
            </a:r>
          </a:p>
          <a:p>
            <a:pPr>
              <a:spcBef>
                <a:spcPts val="800"/>
              </a:spcBef>
              <a:defRPr sz="1050">
                <a:solidFill>
                  <a:srgbClr val="334155"/>
                </a:solidFill>
              </a:defRPr>
            </a:pPr>
            <a:r>
              <a:t>• Modular PyTorch Codebase:</a:t>
            </a:r>
            <a:br/>
            <a:r>
              <a:t>  - src/models/ (A1, A2, A3)</a:t>
            </a:r>
            <a:br/>
            <a:r>
              <a:t>  - src/dataset.py &amp; collate_fn</a:t>
            </a:r>
            <a:br/>
            <a:r>
              <a:t>  - src/tokenizer.py &amp; postprocessor.py</a:t>
            </a:r>
            <a:br/>
            <a:br/>
            <a:r>
              <a:t>• Automated Scanning Pipeline:</a:t>
            </a:r>
            <a:br/>
            <a:r>
              <a:t>  - src/scan_pipeline.py with 4-point homography deskewing</a:t>
            </a:r>
            <a:br/>
            <a:br/>
            <a:r>
              <a:t>• 100% Passing Unit Test Suite:</a:t>
            </a:r>
            <a:br/>
            <a:r>
              <a:t>  - 30 pytest unit tests passing cross-platform (macOS &amp; Linux Colab)</a:t>
            </a:r>
            <a:br/>
            <a:br/>
            <a:r>
              <a:t>• Reproducibility:</a:t>
            </a:r>
            <a:br/>
            <a:r>
              <a:t>  - Fixed RNG seeds, checkpoints, and automated Colab notebook.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1000" b="1">
                <a:solidFill>
                  <a:srgbClr val="4338CA"/>
                </a:solidFill>
                <a:latin typeface="Arial"/>
              </a:defRPr>
            </a:pPr>
            <a:r>
              <a:t>KHMER HANDWRITTEN RECOGNITION | FINAL DEFENSE</a:t>
            </a:r>
          </a:p>
          <a:p>
            <a:pPr>
              <a:defRPr sz="2200" b="1">
                <a:solidFill>
                  <a:srgbClr val="0F172A"/>
                </a:solidFill>
                <a:latin typeface="Arial"/>
              </a:defRPr>
            </a:pPr>
            <a:r>
              <a:t>Conclusion &amp; Future Directions</a:t>
            </a:r>
          </a:p>
        </p:txBody>
      </p:sp>
      <p:sp>
        <p:nvSpPr>
          <p:cNvPr id="4" name="Rounded Rectangle 3"/>
          <p:cNvSpPr/>
          <p:nvPr/>
        </p:nvSpPr>
        <p:spPr>
          <a:xfrm>
            <a:off x="731520" y="146304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46320" cy="4297680"/>
          </a:xfrm>
          <a:prstGeom prst="rect">
            <a:avLst/>
          </a:prstGeom>
          <a:noFill/>
        </p:spPr>
        <p:txBody>
          <a:bodyPr wrap="square">
            <a:spAutoFit/>
          </a:bodyPr>
          <a:lstStyle/>
          <a:p>
            <a:pPr>
              <a:defRPr sz="1600" b="1">
                <a:solidFill>
                  <a:srgbClr val="0D9488"/>
                </a:solidFill>
              </a:defRPr>
            </a:pPr>
            <a:r>
              <a:t>Key Project Conclusions</a:t>
            </a:r>
          </a:p>
          <a:p>
            <a:pPr>
              <a:spcBef>
                <a:spcPts val="1000"/>
              </a:spcBef>
              <a:defRPr sz="1100">
                <a:solidFill>
                  <a:srgbClr val="334155"/>
                </a:solidFill>
              </a:defRPr>
            </a:pPr>
            <a:r>
              <a:t>1. A1 Baseline CRNN is the Superior Architecture:</a:t>
            </a:r>
            <a:br/>
            <a:r>
              <a:t>   Achieved ~80% Character Accuracy and 25.85% Word-Level Accuracy on held-out writers while requiring only 8.49M parameters.</a:t>
            </a:r>
            <a:br/>
            <a:br/>
            <a:r>
              <a:t>2. Inductive Bias Beats Raw Attention:</a:t>
            </a:r>
            <a:br/>
            <a:r>
              <a:t>   BiLSTM's sequential recurrence is far more sample-efficient on limited handwriting data than Transformer self-attention.</a:t>
            </a:r>
            <a:br/>
            <a:br/>
            <a:r>
              <a:t>3. Curriculum Learning is Indispensable:</a:t>
            </a:r>
            <a:br/>
            <a:r>
              <a:t>   HarfBuzz OpenType synthetic pre-training completely eliminated CTC blank collapse and enabled rapid real-handwriting adaptation.</a:t>
            </a:r>
          </a:p>
        </p:txBody>
      </p:sp>
      <p:sp>
        <p:nvSpPr>
          <p:cNvPr id="6" name="Rounded Rectangle 5"/>
          <p:cNvSpPr/>
          <p:nvPr/>
        </p:nvSpPr>
        <p:spPr>
          <a:xfrm>
            <a:off x="6217920" y="146304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297680"/>
          </a:xfrm>
          <a:prstGeom prst="rect">
            <a:avLst/>
          </a:prstGeom>
          <a:noFill/>
        </p:spPr>
        <p:txBody>
          <a:bodyPr wrap="square">
            <a:spAutoFit/>
          </a:bodyPr>
          <a:lstStyle/>
          <a:p>
            <a:pPr>
              <a:defRPr sz="1600" b="1">
                <a:solidFill>
                  <a:srgbClr val="4338CA"/>
                </a:solidFill>
              </a:defRPr>
            </a:pPr>
            <a:r>
              <a:t>Limitations &amp; Future Horizons</a:t>
            </a:r>
          </a:p>
          <a:p>
            <a:pPr>
              <a:spcBef>
                <a:spcPts val="1000"/>
              </a:spcBef>
              <a:defRPr sz="1100">
                <a:solidFill>
                  <a:srgbClr val="334155"/>
                </a:solidFill>
              </a:defRPr>
            </a:pPr>
            <a:r>
              <a:t>• Limitations:</a:t>
            </a:r>
            <a:br/>
            <a:r>
              <a:t>  - Highly cursive or faded pencil strokes reduce subscript recall.</a:t>
            </a:r>
            <a:br/>
            <a:r>
              <a:t>  - Lack of a statistical language model for visual twin disambiguation (ព vs យ).</a:t>
            </a:r>
            <a:br/>
            <a:br/>
            <a:r>
              <a:t>• Future Work:</a:t>
            </a:r>
            <a:br/>
            <a:r>
              <a:t>  - Pre-trained Khmer Language Model (BERT/RoBERTa) for post-OCR contextual beam search decoding.</a:t>
            </a:r>
            <a:br/>
            <a:r>
              <a:t>  - Expanding dataset with multi-province handwritten exam papers.</a:t>
            </a:r>
            <a:br/>
            <a:r>
              <a:t>  - Mobile deployment with CoreML / ONNX Runtime for offline edge scanning.</a:t>
            </a:r>
            <a:br/>
            <a:br/>
            <a:r>
              <a:t>Thank you, Mr. Soklong HIM. I welcome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