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respected lecturer Mr. Soklong HIM. Today I present my final project: Khmer Handwritten Line Recognition: A Comparison of Three CTC-Based Deep Learning Approaches. In this project, I engineered and evaluated three distinct deep learning architectures under strict academic benchmarking: an unseen-writer split, HarfBuzz synthetic pre-training, and word-level accuracy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Khmer handwriting presents three unique challenges. First, vertical stacking of subscript Coeng consonants. Second, Khmer words flow without spaces, making naive bounding-box slicing impossible. Third, high inter-writer variability and visual twins like ព and យ. Therefore, an end-to-end sequence model using CTC is mathematically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complete pipeline. We accept raw line crops, normalize them to height 48 with aspect ratio preservation, and feed them to a CNN feature extractor. The sequence encoder processes the temporal frames, projected to 87 classes. CTC loss aligns the sequence without manual bounding boxes, followed by an orthographic rule cleaner.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enforced a strict writer-disjoint split. Writers W007 and W0011 were held out permanently. Random image splitting lets models memorize a writer's pen quirk; our protocol guarantees true out-of-sample evaluation. Our vocabulary covers 86 Unicode characters with mandatory round-trip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two stages? Training from scratch on 177 real lines causes catastrophic overfitting: training loss drops to 0.14 while validation loss is stuck at 1.42. In Stage 1, we pre-trained all models on 10,000 HarfBuzz synthetic samples across 8 fonts, mastering the alphabet. In Stage 2, we fine-tuned on real handwriting with elastic distortions, anchor mixing, and cosine warmup.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Approach 1 is our baseline CRNN. It uses a 7-layer VGG CNN with asymmetric pooling, reducing height to 1 while downsampling width by only a factor of 4. This maintains rich temporal resolution for CTC frames. A 2-layer BiLSTM captures forward and backward context. It is compact, parameter-efficient at 8.49M params, and trained from scratch with synthetic initialization.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Approach 2, we evaluate transfer learning using an ImageNet pre-trained ResNet-18. We modified the early convolutional strides to retain horizontal resolution, and trained with a differential learning rate where the backbone learns at 25% of the head rate. The sequence model and CTC head were kept identical to A1 to isolate the feature extraction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Approach 3, we isolate the sequence encoder. We keep the CNN and CTC head identical to A1, but replace the BiLSTM with a 4-layer Transformer Encoder with 8 attention heads and sinusoidal positional encodings. This compares multi-head self-attention against recurrent inductive bias directly on identical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our empirical results on test writers W007 and W0011. Approach 1 (Baseline CRNN) won first place with 79.94% Character Accuracy and 25.85% Word-Level Accuracy, transcribing 10% of full lines perfectly. BiLSTM outperformed Transformer because sequential recurrence is the ideal inductive bias for handwriting. Transfer learning came third due to domain mismatch between ImageNet and binary pen strokes.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Looking at the overlaid validation learning curves, we observe the training dynamics. A1 (blue) achieved the lowest and most stable validation trajectory, dropping smoothly from 46% down to 10.9%. A3 Transformer (green) converged reliably but plateaued higher. Notice the complete absence of validation spikes, proving that EMA decay and cosine warmup stabilized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Qualitative error analysis revealed two primary failure modes. First, faint subscript coengs. When a writer scribbles lightly, the downsampled CNN sometimes misses the stroke. Second, visual twin characters like ព and យ where cursive handwriting collapses loops. However, on clear handwriting, A1 transcribes entire 58-character lines with 100%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addition to deep learning modeling, this project delivered clean software engineering artifacts. A modular PyTorch codebase, a sheet cropping pipeline with perspective deskewing, and a 100% passing test suite. Our live demo CLI predicts unseen test lines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our comparative study demonstrated that Baseline CRNN with VGG and BiLSTM provides the most accurate and sample-efficient architecture for Khmer handwritten line recognition, reaching 80% character accuracy. Synthetic pre-training was essential to make real fine-tuning viable. Thank you very much, Mr. Soklong. I am now ready for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very much, Mr. Soklong HIM. I am now ready for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188720"/>
            <a:ext cx="2926080" cy="411480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FINAL PROJECT • DEEP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217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Khmer Handwritten
</a:t>
            </a:r>
            <a:r>
              <a:rPr sz="4000" b="1">
                <a:solidFill>
                  <a:srgbClr val="38BDF8"/>
                </a:solidFill>
              </a:rPr>
              <a:t>Line Recognition</a:t>
            </a:r>
          </a:p>
          <a:p>
            <a:pPr>
              <a:spcBef>
                <a:spcPts val="1200"/>
              </a:spcBef>
              <a:defRPr sz="1500">
                <a:solidFill>
                  <a:srgbClr val="CBD5E1"/>
                </a:solidFill>
              </a:defRPr>
            </a:pPr>
            <a:r>
              <a:t>A Comparative Study of Three CTC-Based Deep Learning Approaches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64592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6217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Hong Than Brathna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Software Engineering  |  Lecturer: Mr. Soklong HIM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286000"/>
            <a:ext cx="1554480" cy="23774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0011_P001_L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743200"/>
            <a:ext cx="1371600" cy="98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39319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BD5E1"/>
                </a:solidFill>
              </a:defRPr>
            </a:pPr>
            <a:r>
              <a:t>Handwritten</a:t>
            </a:r>
            <a:br/>
            <a:r>
              <a:t>Line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2004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286000"/>
            <a:ext cx="1554480" cy="23774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2743200"/>
            <a:ext cx="1554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🧠 ⚙️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9319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BD5E1"/>
                </a:solidFill>
              </a:defRPr>
            </a:pPr>
            <a:r>
              <a:t>Deep Learning</a:t>
            </a:r>
            <a:br/>
            <a:r>
              <a:t>OCR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32004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98480" y="2286000"/>
            <a:ext cx="1280160" cy="23774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0" y="274320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</a:defRPr>
            </a:pPr>
            <a:r>
              <a:t>ខ្មែរ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393192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BD5E1"/>
                </a:solidFill>
              </a:defRPr>
            </a:pPr>
            <a:r>
              <a:t>Khmer Unicode</a:t>
            </a:r>
            <a:br/>
            <a:r>
              <a:t>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02 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Why is Khmer Handwritten OCR </a:t>
            </a:r>
            <a:r>
              <a:rPr sz="2800" b="1">
                <a:solidFill>
                  <a:srgbClr val="38BDF8"/>
                </a:solidFill>
                <a:latin typeface="Arial"/>
              </a:rPr>
              <a:t>Uniquely Difficult?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13455" cy="46634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01168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65960"/>
            <a:ext cx="24076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Complex Character
</a:t>
            </a:r>
            <a:r>
              <a:rPr sz="1400" b="1">
                <a:solidFill>
                  <a:srgbClr val="38BDF8"/>
                </a:solidFill>
              </a:rPr>
              <a:t>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86481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</a:defRPr>
            </a:pPr>
            <a:r>
              <a:t>Khmer is an abugida script with stacked consonants and dependent vowels positioned around the base consonant.</a:t>
            </a:r>
            <a:br/>
            <a:br/>
            <a:r>
              <a:t>● Characters span multiple vertical levels (subscript Coeng, base, upper vowel).</a:t>
            </a:r>
            <a:br/>
            <a:r>
              <a:t>● Many possible complex ligature combinations.</a:t>
            </a:r>
            <a:br/>
            <a:r>
              <a:t>● High density of visually similar diacritics.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8205" y="1737360"/>
            <a:ext cx="3413455" cy="46634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2525" y="201168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6885" y="1965960"/>
            <a:ext cx="24076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No Word Spaces
</a:t>
            </a:r>
            <a:r>
              <a:rPr sz="1400" b="1">
                <a:solidFill>
                  <a:srgbClr val="38BDF8"/>
                </a:solidFill>
              </a:rPr>
              <a:t>(Continuous Script)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525" y="2834640"/>
            <a:ext cx="286481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</a:defRPr>
            </a:pPr>
            <a:r>
              <a:t>Khmer sentences are written continuously without spaces between individual words.</a:t>
            </a:r>
            <a:br/>
            <a:br/>
            <a:r>
              <a:t>● Words cannot be segmented using simple whitespace slicing.</a:t>
            </a:r>
            <a:br/>
            <a:r>
              <a:t>● Character boundaries are blurred and continuous.</a:t>
            </a:r>
            <a:br/>
            <a:r>
              <a:t>● Requires end-to-end sequence alignment via CTC loss.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4890" y="1737360"/>
            <a:ext cx="3413455" cy="46634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19210" y="201168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3570" y="1965960"/>
            <a:ext cx="24076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High Inter-Writer
</a:t>
            </a:r>
            <a:r>
              <a:rPr sz="1400" b="1">
                <a:solidFill>
                  <a:srgbClr val="38BDF8"/>
                </a:solidFill>
              </a:rPr>
              <a:t>Variability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9210" y="2834640"/>
            <a:ext cx="286481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</a:defRPr>
            </a:pPr>
            <a:r>
              <a:t>Handwriting styles differ significantly across writers, with variations in stroke thickness, cursive loops and slant.</a:t>
            </a:r>
            <a:br/>
            <a:br/>
            <a:r>
              <a:t>● The same character looks drastically different across people.</a:t>
            </a:r>
            <a:br/>
            <a:r>
              <a:t>● Visually similar character pairs (e.g. ព vs យ, ត vs ដ, ច vs ជ).</a:t>
            </a:r>
            <a:br/>
            <a:r>
              <a:t>● Requires strict writer-disjoint evaluation to prevent data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03  SYSTEM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End-to-End </a:t>
            </a:r>
            <a:r>
              <a:rPr sz="2800" b="1">
                <a:solidFill>
                  <a:srgbClr val="38BDF8"/>
                </a:solidFill>
                <a:latin typeface="Arial"/>
              </a:rPr>
              <a:t>Recognition Pipeline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From handwritten line image to Khmer Unicode text using deep learning.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645920" cy="28346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6596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Input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463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CBD5E1"/>
                </a:solidFill>
              </a:defRPr>
            </a:pPr>
            <a:r>
              <a:t>Raw handwritten line crop</a:t>
            </a:r>
            <a:br/>
            <a:r>
              <a:t>(variable width)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926080"/>
            <a:ext cx="1645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1828800"/>
            <a:ext cx="1645920" cy="28346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9192" y="196596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25146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3200400"/>
            <a:ext cx="1463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CBD5E1"/>
                </a:solidFill>
              </a:defRPr>
            </a:pPr>
            <a:r>
              <a:t>Resize height 48px</a:t>
            </a:r>
            <a:br/>
            <a:r>
              <a:t>Keep aspect ratio &amp; pad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7952" y="2926080"/>
            <a:ext cx="1645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828800"/>
            <a:ext cx="1645920" cy="28346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9704" y="196596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25146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CNN Feature 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3200400"/>
            <a:ext cx="1463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CBD5E1"/>
                </a:solidFill>
              </a:defRPr>
            </a:pPr>
            <a:r>
              <a:t>VGG or ResNet-18</a:t>
            </a:r>
            <a:br/>
            <a:r>
              <a:t>Extracts visual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926080"/>
            <a:ext cx="1645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828800"/>
            <a:ext cx="1645920" cy="28346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0216" y="196596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5146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3200400"/>
            <a:ext cx="1463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CBD5E1"/>
                </a:solidFill>
              </a:defRPr>
            </a:pPr>
            <a:r>
              <a:t>BiLSTM or Transformer</a:t>
            </a:r>
            <a:br/>
            <a:r>
              <a:t>Models sequence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6" y="2926080"/>
            <a:ext cx="1645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828800"/>
            <a:ext cx="1645920" cy="28346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10728" y="196596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5146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CTC Decoding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200400"/>
            <a:ext cx="1463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CBD5E1"/>
                </a:solidFill>
              </a:defRPr>
            </a:pPr>
            <a:r>
              <a:t>CTC greedy decoding</a:t>
            </a:r>
            <a:br/>
            <a:r>
              <a:t>(no character boxes)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9488" y="2926080"/>
            <a:ext cx="1645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1828800"/>
            <a:ext cx="1645920" cy="28346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21240" y="196596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5146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Output 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3200400"/>
            <a:ext cx="1463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CBD5E1"/>
                </a:solidFill>
              </a:defRPr>
            </a:pPr>
            <a:r>
              <a:t>Khmer Unicode text</a:t>
            </a:r>
            <a:br/>
            <a:r>
              <a:t>(NFC normalized)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846320"/>
            <a:ext cx="10728655" cy="155448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937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Key Pipeline Principles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● Input Normalization: Grayscale 1-channel, height 48px, horizontal max width 1600px with aspect-ratio preservation.</a:t>
            </a:r>
            <a:br/>
            <a:r>
              <a:t>● Vocabulary: 86 Khmer Unicode NFC code-points (33 consonants, 15 independent vowels, 16 dependent vowels, 14 diacritics, 8 digits/punctuation, index 0 reserved for CTC &lt;blank&gt;).</a:t>
            </a:r>
            <a:br/>
            <a:r>
              <a:t>● Post-Processing: Orthographic cleaner fixes invalid duplicate vowels and misplaced diacritics.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04 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Dataset &amp; </a:t>
            </a:r>
            <a:r>
              <a:rPr sz="2800" b="1">
                <a:solidFill>
                  <a:srgbClr val="38BDF8"/>
                </a:solidFill>
                <a:latin typeface="Arial"/>
              </a:rPr>
              <a:t>Writer-Disjoint Split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Training, validation and testing are performed on different writers to evaluate generalization.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377440" cy="2194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Training Set</a:t>
            </a:r>
          </a:p>
          <a:p>
            <a:pPr>
              <a:spcBef>
                <a:spcPts val="200"/>
              </a:spcBef>
              <a:defRPr sz="3600" b="1">
                <a:solidFill>
                  <a:srgbClr val="FFFFFF"/>
                </a:solidFill>
              </a:defRPr>
            </a:pPr>
            <a:r>
              <a:t>177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handwritten lines</a:t>
            </a:r>
            <a:br/>
            <a:r>
              <a:t>7 writers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737360"/>
            <a:ext cx="2377440" cy="2194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874519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Validation Set</a:t>
            </a:r>
          </a:p>
          <a:p>
            <a:pPr>
              <a:spcBef>
                <a:spcPts val="200"/>
              </a:spcBef>
              <a:defRPr sz="3600" b="1">
                <a:solidFill>
                  <a:srgbClr val="FFFFFF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handwritten lines</a:t>
            </a:r>
            <a:br/>
            <a:r>
              <a:t>2 writers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737360"/>
            <a:ext cx="2377440" cy="2194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874519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Test Set</a:t>
            </a:r>
          </a:p>
          <a:p>
            <a:pPr>
              <a:spcBef>
                <a:spcPts val="200"/>
              </a:spcBef>
              <a:defRPr sz="3600" b="1">
                <a:solidFill>
                  <a:srgbClr val="FFFFFF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handwritten lines</a:t>
            </a:r>
            <a:br/>
            <a:r>
              <a:t>2 writers (W007, W0011)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737360"/>
            <a:ext cx="3047695" cy="2194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1874519"/>
            <a:ext cx="2743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Writer-Disjoint Partition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●●●●●●●  ●●  ●●</a:t>
            </a:r>
            <a:br/>
            <a:r>
              <a:t>Train (7)     Val (2)  Test (2)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✓ Zero writer leakage: W007 and W0011 were permanently held out for test evaluation.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10728655" cy="22860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Example Handwritten Lines from Each Partition</a:t>
            </a:r>
          </a:p>
        </p:txBody>
      </p:sp>
      <p:pic>
        <p:nvPicPr>
          <p:cNvPr id="15" name="Picture 14" descr="W008_P002_L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63440"/>
            <a:ext cx="3200400" cy="1829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58521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CBD5E1"/>
                </a:solidFill>
              </a:defRPr>
            </a:pPr>
            <a:r>
              <a:t>Training Example (W008)</a:t>
            </a:r>
          </a:p>
        </p:txBody>
      </p:sp>
      <p:pic>
        <p:nvPicPr>
          <p:cNvPr id="17" name="Picture 16" descr="W009_P002_L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4663440"/>
            <a:ext cx="3200400" cy="1715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60" y="58521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CBD5E1"/>
                </a:solidFill>
              </a:defRPr>
            </a:pPr>
            <a:r>
              <a:t>Validation Example (W009)</a:t>
            </a:r>
          </a:p>
        </p:txBody>
      </p:sp>
      <p:pic>
        <p:nvPicPr>
          <p:cNvPr id="19" name="Picture 18" descr="W0011_P001_L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4663440"/>
            <a:ext cx="3200400" cy="22903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46720" y="58521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CBD5E1"/>
                </a:solidFill>
              </a:defRPr>
            </a:pPr>
            <a:r>
              <a:t>Test Example — Unseen Writer (W0011)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05  TRAINING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Two-Stage </a:t>
            </a:r>
            <a:r>
              <a:rPr sz="2800" b="1">
                <a:solidFill>
                  <a:srgbClr val="38BDF8"/>
                </a:solidFill>
                <a:latin typeface="Arial"/>
              </a:rPr>
              <a:t>Training Strategy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Use synthetic data to learn Khmer characters, then fine-tune on real handwriting.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301752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2024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Stage 1: </a:t>
            </a:r>
            <a:r>
              <a:rPr sz="1400" b="1">
                <a:solidFill>
                  <a:srgbClr val="38BDF8"/>
                </a:solidFill>
              </a:rPr>
              <a:t>Synthetic Pre-training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10,000 Synthetic Line Samples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● Generated with HarfBuzz authentic OpenType text shaping.</a:t>
            </a:r>
            <a:br/>
            <a:r>
              <a:t>● Rendered across 8 diverse Khmer fonts (serif, sans-serif, round, slanted).</a:t>
            </a:r>
            <a:br/>
            <a:r>
              <a:t>● Complete coverage of all 86 Khmer Unicode code-points.</a:t>
            </a:r>
            <a:br/>
            <a:r>
              <a:t>● Result: Solves CTC blank-collapse and teaches baseline character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9260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8BDF8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150815" cy="301752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1920240"/>
            <a:ext cx="475488" cy="47548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92024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Stage 2: </a:t>
            </a:r>
            <a:r>
              <a:rPr sz="1400" b="1">
                <a:solidFill>
                  <a:srgbClr val="22C55E"/>
                </a:solidFill>
              </a:rPr>
              <a:t>Real Fine-Tuning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6032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177 Real Lines + 3,000 Crop Mix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● Multi-scale Elastic &amp; Perspective Distortion Augmentations.</a:t>
            </a:r>
            <a:br/>
            <a:r>
              <a:t>● Real Oversampling (8x): Real ink represents ~40% of each training epoch.</a:t>
            </a:r>
            <a:br/>
            <a:r>
              <a:t>● Synthetic Anchor Mixing (3,000 samples) prevents catastrophic forgetting.</a:t>
            </a:r>
            <a:br/>
            <a:r>
              <a:t>● Cosine Annealing with 3 Warmup Epochs + EMA (decay=0.999).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728655" cy="14630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Why Curriculum Learning is Essential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1. Learn General Patterns: Synthetic data teaches clean font structure without human handwriting noise.</a:t>
            </a:r>
            <a:br/>
            <a:r>
              <a:t>2. Sequence Alignment: Pre-trains CTC emissions so the blank token is not over-predicted.</a:t>
            </a:r>
            <a:br/>
            <a:r>
              <a:t>3. Real Adaptation: Fine-tuning adapts convolution filters to human pen strokes and paper texture.</a:t>
            </a:r>
            <a:br/>
            <a:r>
              <a:t>4. Out-of-Sample Generalization: Reaches 80% Character Accuracy on held-out unseen writers.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06  APPROACH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Baseline CRNN </a:t>
            </a:r>
            <a:r>
              <a:rPr sz="2800" b="1">
                <a:solidFill>
                  <a:srgbClr val="38BDF8"/>
                </a:solidFill>
                <a:latin typeface="Arial"/>
              </a:rPr>
              <a:t>(VGG + BiLSTM + CTC)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A strong and effective end-to-end architecture for handwritten line recognition.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931920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Architecture Details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● CNN Backbone:</a:t>
            </a:r>
            <a:br/>
            <a:r>
              <a:t>  - 7 Convolutional Layers (VGG-style)</a:t>
            </a:r>
            <a:br/>
            <a:r>
              <a:t>  - Asymmetric MaxPool (2, 1) in layers 3 &amp; 4: shrinks height to 1 while keeping W' = W/4.</a:t>
            </a:r>
            <a:br/>
            <a:br/>
            <a:r>
              <a:t>● Sequence Modeling:</a:t>
            </a:r>
            <a:br/>
            <a:r>
              <a:t>  - 2-Layer Bidirectional LSTM</a:t>
            </a:r>
            <a:br/>
            <a:r>
              <a:t>  - Hidden dim = 256 (bidirectional total = 512)</a:t>
            </a:r>
            <a:br/>
            <a:r>
              <a:t>  - Dropout = 0.2</a:t>
            </a:r>
            <a:br/>
            <a:br/>
            <a:r>
              <a:t>● Output Layer:</a:t>
            </a:r>
            <a:br/>
            <a:r>
              <a:t>  - Linear(512 → 87 classes) + CTC Loss</a:t>
            </a:r>
            <a:br/>
            <a:r>
              <a:t>  - Greedy decoding.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828800"/>
            <a:ext cx="2560320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19456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Model Size</a:t>
            </a:r>
          </a:p>
          <a:p>
            <a:pPr algn="ctr">
              <a:spcBef>
                <a:spcPts val="1600"/>
              </a:spcBef>
              <a:defRPr sz="4400" b="1">
                <a:solidFill>
                  <a:srgbClr val="FFFFFF"/>
                </a:solidFill>
              </a:defRPr>
            </a:pPr>
            <a:r>
              <a:t>8.49M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Trainable Parameters</a:t>
            </a:r>
            <a:br/>
            <a:br/>
            <a:r>
              <a:t>Most compact and sample-efficient model in our study.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828800"/>
            <a:ext cx="3870655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Key Strengths &amp; Role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✓ Winner of our study: Achieved the lowest CER (20.06%) and highest Char Accuracy (79.94%).</a:t>
            </a:r>
            <a:br/>
            <a:br/>
            <a:r>
              <a:t>✓ Ideal Inductive Bias: BiLSTM assumes sequential recurrence, matching left-to-right writing perfectly.</a:t>
            </a:r>
            <a:br/>
            <a:br/>
            <a:r>
              <a:t>✓ Asymmetric Pooling: Flattens vertical coeng subscripts directly into temporal feature columns.</a:t>
            </a:r>
            <a:br/>
            <a:br/>
            <a:r>
              <a:t>✓ Zero Domain Mismatch: Features learned entirely on Khmer glyphs without natural image distortion.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07  APPROACH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ResNet-18 </a:t>
            </a:r>
            <a:r>
              <a:rPr sz="2800" b="1">
                <a:solidFill>
                  <a:srgbClr val="38BDF8"/>
                </a:solidFill>
                <a:latin typeface="Arial"/>
              </a:rPr>
              <a:t>Transfer Learning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Using a pre-trained ResNet-18 backbone with BiLSTM and CTC for Khmer line recognition.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931920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Architecture Modifications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● Backbone:</a:t>
            </a:r>
            <a:br/>
            <a:r>
              <a:t>  - Pre-trained ResNet-18 (ImageNet weights)</a:t>
            </a:r>
            <a:br/>
            <a:r>
              <a:t>  - 1-channel grayscale replicated to 3 channels.</a:t>
            </a:r>
            <a:br/>
            <a:br/>
            <a:r>
              <a:t>● Resolution Preservation:</a:t>
            </a:r>
            <a:br/>
            <a:r>
              <a:t>  - Modified Conv1 &amp; MaxPool stride from 2 to 1 horizontally.</a:t>
            </a:r>
            <a:br/>
            <a:r>
              <a:t>  - Asymmetric bridge convolution (3, 1) flattens height to 1.</a:t>
            </a:r>
            <a:br/>
            <a:br/>
            <a:r>
              <a:t>● Sequence Head (Held Constant):</a:t>
            </a:r>
            <a:br/>
            <a:r>
              <a:t>  - Identical 2-layer BiLSTM (hidden=256)</a:t>
            </a:r>
            <a:br/>
            <a:r>
              <a:t>  - Linear CTC projection to 87 classes.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828800"/>
            <a:ext cx="2560320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19456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Model Size</a:t>
            </a:r>
          </a:p>
          <a:p>
            <a:pPr algn="ctr">
              <a:spcBef>
                <a:spcPts val="1600"/>
              </a:spcBef>
              <a:defRPr sz="4000" b="1">
                <a:solidFill>
                  <a:srgbClr val="FFFFFF"/>
                </a:solidFill>
              </a:defRPr>
            </a:pPr>
            <a:r>
              <a:t>30.95M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Total Parameters</a:t>
            </a:r>
            <a:br/>
            <a:br/>
            <a:r>
              <a:t>(3.6x larger than A1)</a:t>
            </a:r>
            <a:br/>
            <a:r>
              <a:t>High capacity architecture.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828800"/>
            <a:ext cx="3870655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Training Strategy: Differential LR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● Explores Rubric Dimension (B): Training Strategy.</a:t>
            </a:r>
            <a:br/>
            <a:br/>
            <a:r>
              <a:t>● Differential Learning Rate:</a:t>
            </a:r>
            <a:br/>
            <a:r>
              <a:t>  - Backbone LR multiplier = 0.25x</a:t>
            </a:r>
            <a:br/>
            <a:r>
              <a:t>  - Head LR multiplier = 1.0x</a:t>
            </a:r>
            <a:br/>
            <a:br/>
            <a:r>
              <a:t>● 3-Epoch Freeze:</a:t>
            </a:r>
            <a:br/>
            <a:r>
              <a:t>  - Allows CTC head to adapt before disturbing pre-trained weights.</a:t>
            </a:r>
            <a:br/>
            <a:br/>
            <a:r>
              <a:t>● Insight: Domain mismatch (ImageNet natural photos vs binary ink) caused higher test error (25.78% CER).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08  APPROACH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Transformer </a:t>
            </a:r>
            <a:r>
              <a:rPr sz="2800" b="1">
                <a:solidFill>
                  <a:srgbClr val="38BDF8"/>
                </a:solidFill>
                <a:latin typeface="Arial"/>
              </a:rPr>
              <a:t>Sequence Encoder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Using self-attention to model long-range dependencies in handwritten Khmer lines.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931920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Architecture Details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● VGG Backbone: Identical to A1 (held constant).</a:t>
            </a:r>
            <a:br/>
            <a:br/>
            <a:r>
              <a:t>● 1D Sinusoidal Positional Encoding:</a:t>
            </a:r>
            <a:br/>
            <a:r>
              <a:t>  - Injects temporal ordering into order-agnostic self-attention.</a:t>
            </a:r>
            <a:br/>
            <a:br/>
            <a:r>
              <a:t>● 4-Layer Transformer Encoder:</a:t>
            </a:r>
            <a:br/>
            <a:r>
              <a:t>  - 8 Attention heads per layer</a:t>
            </a:r>
            <a:br/>
            <a:r>
              <a:t>  - FFN: 512 → 1024 → 512 (GELU)</a:t>
            </a:r>
            <a:br/>
            <a:r>
              <a:t>  - Pre-LayerNorm &amp; Residual connections.</a:t>
            </a:r>
            <a:br/>
            <a:br/>
            <a:r>
              <a:t>● Output Layer: Identical Linear(512 → 87) + CTC.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828800"/>
            <a:ext cx="2560320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19456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Model Size</a:t>
            </a:r>
          </a:p>
          <a:p>
            <a:pPr algn="ctr">
              <a:spcBef>
                <a:spcPts val="1600"/>
              </a:spcBef>
              <a:defRPr sz="4400" b="1">
                <a:solidFill>
                  <a:srgbClr val="FFFFFF"/>
                </a:solidFill>
              </a:defRPr>
            </a:pPr>
            <a:r>
              <a:t>9.54M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Trainable Parameters</a:t>
            </a:r>
            <a:br/>
            <a:br/>
            <a:r>
              <a:t>Self-attention architecture with competitive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828800"/>
            <a:ext cx="3870655" cy="448056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Self-Attention vs Recurrence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● Explores Rubric Dimension (A): Architecture.</a:t>
            </a:r>
            <a:br/>
            <a:br/>
            <a:r>
              <a:t>● Pairwise Attention:</a:t>
            </a:r>
            <a:br/>
            <a:r>
              <a:t>  - Connects distant character contexts across long lines in O(1) sequential steps.</a:t>
            </a:r>
            <a:br/>
            <a:br/>
            <a:r>
              <a:t>● Inductive Bias Trade-Off:</a:t>
            </a:r>
            <a:br/>
            <a:r>
              <a:t>  - Transformers lack localized sequential assumptions.</a:t>
            </a:r>
            <a:br/>
            <a:r>
              <a:t>  - Ranked 2nd (22.92% CER, 77.08% CharAcc) behind BiLSTM on limited real handwriting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09  RESULTS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Experimental </a:t>
            </a:r>
            <a:r>
              <a:rPr sz="2800" b="1">
                <a:solidFill>
                  <a:srgbClr val="38BDF8"/>
                </a:solidFill>
                <a:latin typeface="Arial"/>
              </a:rPr>
              <a:t>Results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Evaluated on an unseen handwritten test set with multiple writers and writing styles.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1371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463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Character Accuracy</a:t>
            </a:r>
            <a:br/>
            <a:r>
              <a:rPr sz="2400" b="1">
                <a:solidFill>
                  <a:srgbClr val="22C55E"/>
                </a:solidFill>
              </a:rPr>
              <a:t>79.94%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828800"/>
            <a:ext cx="1463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Word Accuracy</a:t>
            </a:r>
            <a:br/>
            <a:r>
              <a:rPr sz="2400" b="1">
                <a:solidFill>
                  <a:srgbClr val="38BDF8"/>
                </a:solidFill>
              </a:rPr>
              <a:t>25.85%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828800"/>
            <a:ext cx="1463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Lowest CER</a:t>
            </a:r>
            <a:br/>
            <a:r>
              <a:rPr sz="2400" b="1">
                <a:solidFill>
                  <a:srgbClr val="FFFFFF"/>
                </a:solidFill>
              </a:rPr>
              <a:t>20.06%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5120640" cy="301752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Comparison with Other Models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384048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77240"/>
                <a:gridCol w="777240"/>
                <a:gridCol w="777240"/>
                <a:gridCol w="777240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CharAcc ↑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WordAcc ↑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CER ↓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LineAcc ↑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A1 CRNN (Winner)</a:t>
                      </a:r>
                    </a:p>
                  </a:txBody>
                  <a:tcPr>
                    <a:solidFill>
                      <a:srgbClr val="102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79.94%</a:t>
                      </a:r>
                    </a:p>
                  </a:txBody>
                  <a:tcPr>
                    <a:solidFill>
                      <a:srgbClr val="102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25.85%</a:t>
                      </a:r>
                    </a:p>
                  </a:txBody>
                  <a:tcPr>
                    <a:solidFill>
                      <a:srgbClr val="102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20.06%</a:t>
                      </a:r>
                    </a:p>
                  </a:txBody>
                  <a:tcPr>
                    <a:solidFill>
                      <a:srgbClr val="102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10.00%</a:t>
                      </a:r>
                    </a:p>
                  </a:txBody>
                  <a:tcPr>
                    <a:solidFill>
                      <a:srgbClr val="102A5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A3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77.08%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22.92%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2.00%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A2 Transfer ResNet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74.22%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12.24%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25.78%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217920" y="1737360"/>
            <a:ext cx="5242255" cy="45720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Sample Predictions (Held-Out Writer W0011)</a:t>
            </a:r>
          </a:p>
        </p:txBody>
      </p:sp>
      <p:pic>
        <p:nvPicPr>
          <p:cNvPr id="14" name="Picture 13" descr="W0011_P001_L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77440"/>
            <a:ext cx="2926080" cy="2093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292608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Ground Truth:</a:t>
            </a:r>
            <a:br/>
            <a:r>
              <a:t>ព្រឹកនេះ នៅក្នុងបន្ទប់រៀនយើងមានសិស្សជាច្រើននាក់</a:t>
            </a:r>
          </a:p>
          <a:p>
            <a:pPr>
              <a:spcBef>
                <a:spcPts val="400"/>
              </a:spcBef>
              <a:defRPr sz="1100" b="1">
                <a:solidFill>
                  <a:srgbClr val="22C55E"/>
                </a:solidFill>
              </a:defRPr>
            </a:pPr>
            <a:r>
              <a:t>Model Prediction: ព្រឹកនេះ នៅក្នុងបន្ទប់រៀនយើងមានសិស្សជាច្រើននាក់  [✓ Correct]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Qualitative Highlights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● Successfully recognizes full 58-character handwritten sentences with zero character errors.</a:t>
            </a:r>
            <a:br/>
            <a:r>
              <a:t>● Accurate recovery of complex subscript Coengs (្រ, ៀ, ើ) without horizontal alignment drift.</a:t>
            </a:r>
            <a:br/>
            <a:r>
              <a:t>● 10% of all lines in the held-out test set matched with 100% exact character perfection!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10  PERFORMANCE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Model Performance &amp; </a:t>
            </a:r>
            <a:r>
              <a:rPr sz="2800" b="1">
                <a:solidFill>
                  <a:srgbClr val="38BDF8"/>
                </a:solidFill>
                <a:latin typeface="Arial"/>
              </a:rPr>
              <a:t>Learning Curves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Overlaid validation learning curves and error rates across all three architectures.</a:t>
            </a:r>
          </a:p>
        </p:txBody>
      </p:sp>
      <p:pic>
        <p:nvPicPr>
          <p:cNvPr id="5" name="Picture 4" descr="overlaid_lear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6035040" cy="3017520"/>
          </a:xfrm>
          <a:prstGeom prst="rect">
            <a:avLst/>
          </a:prstGeom>
        </p:spPr>
      </p:pic>
      <p:pic>
        <p:nvPicPr>
          <p:cNvPr id="6" name="Picture 5" descr="comparison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737360"/>
            <a:ext cx="4480560" cy="16292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846320"/>
            <a:ext cx="10728655" cy="155448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Key Scientific Observations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● Blue Curve (A1 CRNN): Rapidly drops from 46% to 10.9% validation CER, achieving the lowest error floor.</a:t>
            </a:r>
            <a:br/>
            <a:r>
              <a:t>● Green Curve (A3 Transformer): Stably converges around 14.7% validation CER, performing well but trailing BiLSTM.</a:t>
            </a:r>
            <a:br/>
            <a:r>
              <a:t>● Orange Curve (A2 ResNet-18): Plateaus around 18.7% validation CER due to capacity bloat and domain shift.</a:t>
            </a:r>
            <a:br/>
            <a:r>
              <a:t>● Regularization Success: Cosine warmup and EMA (0.999) completely eliminated validation divergence spikes.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11  QUALITATIVE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Recognition Examples &amp; </a:t>
            </a:r>
            <a:r>
              <a:rPr sz="2800" b="1">
                <a:solidFill>
                  <a:srgbClr val="38BDF8"/>
                </a:solidFill>
                <a:latin typeface="Arial"/>
              </a:rPr>
              <a:t>Error Analysis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Examples from unseen handwritten lines showing correct predictions and common error cases.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13455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</a:defRPr>
            </a:pPr>
            <a:r>
              <a:t>✓ Correct Recognition Example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Ground Truth:</a:t>
            </a:r>
            <a:br/>
            <a:r>
              <a:t>ព្រឹកនេះ នៅក្នុងបន្ទប់រៀនយើងមានសិស្សជាច្រើននាក់</a:t>
            </a:r>
            <a:br/>
            <a:br/>
            <a:r>
              <a:t>Model Prediction:</a:t>
            </a:r>
            <a:br/>
            <a:r>
              <a:t>ព្រឹកនេះ នៅក្នុងបន្ទប់រៀនយើងមានសិស្សជាច្រើននាក់</a:t>
            </a:r>
            <a:br/>
            <a:br/>
            <a:r>
              <a:t>● Outcome: 100% exact match across all 58 characters.</a:t>
            </a:r>
            <a:br/>
            <a:r>
              <a:t>● Recovers subscript coeng ្រ, upper vowels ឹ, ើ, and dependent vowel ៀ without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413455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⚠️ Minor Recognition Error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Ground Truth:</a:t>
            </a:r>
            <a:br/>
            <a:r>
              <a:t>ក្បាលម៉ាស៊ីនរថភ្លើង</a:t>
            </a:r>
            <a:br/>
            <a:br/>
            <a:r>
              <a:t>Model Prediction:</a:t>
            </a:r>
            <a:br/>
            <a:r>
              <a:t>កាលម៉ាស៊ីនរថភ្លើង</a:t>
            </a:r>
            <a:br/>
            <a:br/>
            <a:r>
              <a:t>● Error: Subscript Coeng ្ + ប omitted (ក្ប → ក).</a:t>
            </a:r>
            <a:br/>
            <a:r>
              <a:t>● Cause: In faint cursive handwriting, small subscript strokes lack contrast, causing temporal collapse.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37360"/>
            <a:ext cx="3413455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✗ Challenging Visual Twin Example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Ground Truth: ព → Prediction: យ</a:t>
            </a:r>
            <a:br/>
            <a:r>
              <a:t>Ground Truth: នោះ → Prediction: នេះ</a:t>
            </a:r>
            <a:br/>
            <a:br/>
            <a:r>
              <a:t>● Cause: Visual twin loops collapse in quick cursive handwriting, making them indistinguishable without language context.</a:t>
            </a:r>
            <a:br/>
            <a:r>
              <a:t>● Solution: Requires a language model for semantic disambiguation.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728655" cy="10058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Key Takeaway: The model recognizes clear and consistent handwriting accurately. Errors concentrate on faint subscripts and visual twins.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12  LIVE INFERENCE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Live Inference Demo &amp; </a:t>
            </a:r>
            <a:r>
              <a:rPr sz="2800" b="1">
                <a:solidFill>
                  <a:srgbClr val="38BDF8"/>
                </a:solidFill>
                <a:latin typeface="Arial"/>
              </a:rPr>
              <a:t>Production Artifacts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Real-time prediction CLI comparing baseline and transfer models on held-out lines.</a:t>
            </a:r>
          </a:p>
        </p:txBody>
      </p:sp>
      <p:pic>
        <p:nvPicPr>
          <p:cNvPr id="5" name="Picture 4" descr="live_demo_out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6217920" cy="16244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657600"/>
            <a:ext cx="6217920" cy="27432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Terminal Inference CLI Command:</a:t>
            </a:r>
          </a:p>
          <a:p>
            <a:pPr>
              <a:spcBef>
                <a:spcPts val="400"/>
              </a:spcBef>
              <a:defRPr sz="1000">
                <a:solidFill>
                  <a:srgbClr val="22C55E"/>
                </a:solidFill>
                <a:latin typeface="Courier New"/>
              </a:defRPr>
            </a:pPr>
            <a:r>
              <a:t>$ python scripts/demo_predict.py \</a:t>
            </a:r>
            <a:br/>
            <a:r>
              <a:t>    --image data/handwritten_external/W0011/lines_raw/W0011_P001_L001.png \</a:t>
            </a:r>
            <a:br/>
            <a:r>
              <a:t>    --checkpoint checkpoints/a1_baseline_finetuned_best.pt \</a:t>
            </a:r>
            <a:br/>
            <a:r>
              <a:t>    --vocab-path data/metadata/char_to_idx.json \</a:t>
            </a:r>
            <a:br/>
            <a:r>
              <a:t>    --approach baseline</a:t>
            </a:r>
            <a:br/>
            <a:br/>
            <a:r>
              <a:t>✓ Output: ព្រឹកនេះ នៅក្នុងបន្ទប់រៀនយើងមានសិស្សជាច្រើននាក់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737360"/>
            <a:ext cx="4327855" cy="46634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92024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Software Engineering Deliverables</a:t>
            </a:r>
          </a:p>
          <a:p>
            <a:pPr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● Modular PyTorch Architecture:</a:t>
            </a:r>
            <a:br/>
            <a:r>
              <a:t>  - src/models/ (A1 Baseline, A2 Transfer, A3 Transformer)</a:t>
            </a:r>
            <a:br/>
            <a:r>
              <a:t>  - src/dataset.py &amp; collate_fn with dynamic white padding</a:t>
            </a:r>
            <a:br/>
            <a:r>
              <a:t>  - src/tokenizer.py &amp; postprocessor.py</a:t>
            </a:r>
            <a:br/>
            <a:br/>
            <a:r>
              <a:t>● Automated Sheet Cropping Pipeline:</a:t>
            </a:r>
            <a:br/>
            <a:r>
              <a:t>  - src/scan_pipeline.py with 4-point homography deskewing</a:t>
            </a:r>
            <a:br/>
            <a:br/>
            <a:r>
              <a:t>● 100% Passing Unit Test Suite:</a:t>
            </a:r>
            <a:br/>
            <a:r>
              <a:t>  - 30 pytest unit tests passing across macOS and Linux Colab</a:t>
            </a:r>
            <a:br/>
            <a:br/>
            <a:r>
              <a:t>● Complete Reproducibility:</a:t>
            </a:r>
            <a:br/>
            <a:r>
              <a:t>  - Fixed RNG seeds, checkpoints, and automated Colab runner.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13  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Conclusion &amp; </a:t>
            </a:r>
            <a:r>
              <a:rPr sz="2800" b="1">
                <a:solidFill>
                  <a:srgbClr val="38BDF8"/>
                </a:solidFill>
                <a:latin typeface="Arial"/>
              </a:rPr>
              <a:t>Future Work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Summary of findings, limitations, and directions for future improvement.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13455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🏆 Key Findings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● A1 CRNN Performed Best: Lowest CER (20.06%) and highest word accuracy (25.85%) on unseen writers.</a:t>
            </a:r>
            <a:br/>
            <a:br/>
            <a:r>
              <a:t>● BiLSTM &gt; Transformer: Innate sequential recurrence inductive bias gave BiLSTM superior sample efficiency on modest data.</a:t>
            </a:r>
            <a:br/>
            <a:br/>
            <a:r>
              <a:t>● Synthetic Curriculum was Critical: HarfBuzz pre-training eliminated CTC blank collapse.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413455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⚠️ Limitations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● Limited Human Writers: 11 writers total; test set may not cover all Cambodian regional cursive quirks.</a:t>
            </a:r>
            <a:br/>
            <a:br/>
            <a:r>
              <a:t>● Low Contrast Ink: Faint pencil or pen strokes can cause subscript omissions.</a:t>
            </a:r>
            <a:br/>
            <a:br/>
            <a:r>
              <a:t>● No Integrated Language Model: Visual twins cannot be disambiguated by semantic context.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37360"/>
            <a:ext cx="3413455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💡 Future Work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● Larger Multi-Province Corpus: Collect student handwriting across multiple provinces.</a:t>
            </a:r>
            <a:br/>
            <a:br/>
            <a:r>
              <a:t>● Khmer Language Model: Integrate pre-trained Khmer RoBERTa for post-OCR beam search decoding.</a:t>
            </a:r>
            <a:br/>
            <a:br/>
            <a:r>
              <a:t>● Mobile Deployment: Export A1 via ONNX / CoreML for instant offline phone camera scanning.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728655" cy="10058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🎯 Final Takeaway: A1 Baseline CRNN achieved the best performance with ~80% character accuracy, proving that well-regularized recurrence and synthetic curriculum pre-training are the optimal foundation for Khmer OCR.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411480"/>
            <a:ext cx="2377440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14  REFERENCES &amp; 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References &amp; </a:t>
            </a:r>
            <a:r>
              <a:rPr sz="2800" b="1">
                <a:solidFill>
                  <a:srgbClr val="38BDF8"/>
                </a:solidFill>
                <a:latin typeface="Arial"/>
              </a:rPr>
              <a:t>Acknowledgements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Key academic resources, tools, and mentors who supported this project.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📖 Academic References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1. Graves, A., et al. (2006). Connectionist Temporal Classification (CTC): Labelling Unsegmented Sequence Data. ICML.</a:t>
            </a:r>
            <a:br/>
            <a:r>
              <a:t>2. Shi, B., Bai, X., &amp; Yao, C. (2016). An End-to-End Trainable Neural Network for Image-based Sequence Recognition (CRNN). IEEE TPAMI.</a:t>
            </a:r>
            <a:br/>
            <a:r>
              <a:t>3. He, K., et al. (2016). Deep Residual Learning for Image Recognition (ResNet). CVPR.</a:t>
            </a:r>
            <a:br/>
            <a:r>
              <a:t>4. Vaswani, A., et al. (2017). Attention Is All You Need (Transformer). NeurIPS.</a:t>
            </a:r>
            <a:br/>
            <a:r>
              <a:t>5. Loshchilov, I., &amp; Hutter, F. (2019). Decoupled Weight Decay Regularization (AdamW). ICLR.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42255" cy="365760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🤝 Acknowledgements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● Academic Guidance:</a:t>
            </a:r>
            <a:br/>
            <a:r>
              <a:t>  Sincere gratitude to our lecturer Mr. Soklong HIM for continuous mentorship, technical rigor, and feedback.</a:t>
            </a:r>
            <a:br/>
            <a:br/>
            <a:r>
              <a:t>● Open-Source Community:</a:t>
            </a:r>
            <a:br/>
            <a:r>
              <a:t>  PyTorch team, Google Colab, and HarfBuzz for high-performance deep learning and OpenType shaping engines.</a:t>
            </a:r>
            <a:br/>
            <a:br/>
            <a:r>
              <a:t>● Dataset Contributors:</a:t>
            </a:r>
            <a:br/>
            <a:r>
              <a:t>  Thank you to all human writers and contributors who provided real handwritten samples for this research.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728655" cy="1005840"/>
          </a:xfrm>
          <a:prstGeom prst="roundRect">
            <a:avLst/>
          </a:prstGeom>
          <a:solidFill>
            <a:srgbClr val="0B1936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🚀 Thank You!  </a:t>
            </a:r>
            <a:r>
              <a:rPr sz="1200">
                <a:solidFill>
                  <a:srgbClr val="38BDF8"/>
                </a:solidFill>
              </a:rPr>
              <a:t>|  Thank you for your time and attention. I look forward to your questions and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