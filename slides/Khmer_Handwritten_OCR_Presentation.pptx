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lecturer Mr. Soklong HIM. Today I present my final project: Khmer Handwritten Line Recognition. We benchmarked three distinct deep learning architectures on strictly held-out unseen writers using a two-stage curriculum strategy.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seen in the anatomy diagram on the left, Khmer glyphs stack across three vertical tiers: upper vowels, base consonants, and subscript Coengs. Because Khmer text has no spaces between words, traditional character slicing fails completely. An end-to-end CTC sequence model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complete recognition pipeline. Images are normalized to height 48 while preserving natural stroke aspect ratios. Asymmetric pooling in the CNN shrinks height to 1 while keeping horizontal resolution high. Sequence features pass to CTC loss for alignment, outputting clean NFC Unicode 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satisfy Mr. Soklong's rubric, we enforced a strict writer-disjoint partition. 177 lines for training, 50 for validation, and 50 held out exclusively for testing from writers W007 and W0011. Random image splitting causes artificial accuracy inflation; our split tests true handwriting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two-stage training strategy was critical. Training from scratch on 177 lines caused catastrophic overfitting. In Stage 1, we pre-trained on 10,000 synthetic samples to master character glyphs. In Stage 2, we fine-tuned on real handwriting with elastic augmentations, 8x ink oversampling, and anchor mixing to prevent forgetting.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Approach 1 is our baseline CRNN. It uses 7 VGG convolution layers with asymmetric pooling to squash height to 1 while keeping width high. The 2-layer BiLSTM models sequential context. With 8.49M parameters, it achieved the best balance of sample efficiency and accuracy.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Approach 2, we tested transfer learning with ResNet-18. We adapted horizontal strides and trained with differential learning rates. It achieved 74.22% character accuracy, but came third because ImageNet natural photo features had a domain shift compared to binary handwriting, and its 31M parameters were prone to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Approach 3, we replaced the BiLSTM with a 4-layer Transformer Encoder with 8 attention heads. As illustrated on the left, self-attention computes an all-to-all attention matrix. While it captures global context, it lacks the localized recurrence inductive bias that BiLSTMs possess. On a small real dataset, BiLSTM was more sample efficient.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official benchmark results on test writers W007 and W0011. A1 Baseline CRNN achieved first place with 79.94% Character Accuracy, 25.85% Word-Level Accuracy, and 10% exact whole-line match. A3 Transformer placed second, and A2 ResNet-18 placed third. Our model accurately read the full unseen test sentence shown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validation curves on the left, A1 (blue) descended smoothly to the lowest error floor. The comparison bar chart on the right confirms A1's superiority in both CER and Word-Level Accuracy. EMA decay and cosine warmup completely stabilized training across all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Qualitative error analysis revealed two primary failure modes: faint subscript coengs and visual twin characters. However, on well-written handwriting, the model achieves 100% precision across complete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addition to deep learning models, we delivered production software engineering artifacts: a modular codebase, 30 passing unit tests, an automated scanning pipeline, and a live prediction CLI.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Baseline CRNN with VGG and BiLSTM provides the most accurate and sample-efficient architecture for Khmer handwritten line recognition. Thank you very much, Mr. Soklong HIM. I am now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Mr. Soklong HIM. I am now ready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645920"/>
            <a:ext cx="6583680" cy="2926080"/>
          </a:xfrm>
          <a:prstGeom prst="rect">
            <a:avLst/>
          </a:prstGeom>
          <a:noFill/>
        </p:spPr>
        <p:txBody>
          <a:bodyPr wrap="square">
            <a:spAutoFit/>
          </a:bodyPr>
          <a:lstStyle/>
          <a:p>
            <a:pPr>
              <a:defRPr sz="1100" b="1">
                <a:solidFill>
                  <a:srgbClr val="38BDF8"/>
                </a:solidFill>
              </a:defRPr>
            </a:pPr>
            <a:r>
              <a:t>FINAL YEAR PROJECT DEFENSE • DEEP LEARNING</a:t>
            </a:r>
          </a:p>
          <a:p>
            <a:r>
              <a:rPr sz="4200" b="1">
                <a:solidFill>
                  <a:srgbClr val="FFFFFF"/>
                </a:solidFill>
              </a:rPr>
              <a:t>Khmer Handwritten
</a:t>
            </a:r>
            <a:r>
              <a:rPr sz="4200" b="1">
                <a:solidFill>
                  <a:srgbClr val="38BDF8"/>
                </a:solidFill>
              </a:rPr>
              <a:t>Line Recognition</a:t>
            </a:r>
          </a:p>
          <a:p>
            <a:pPr>
              <a:spcBef>
                <a:spcPts val="800"/>
              </a:spcBef>
              <a:defRPr sz="1500">
                <a:solidFill>
                  <a:srgbClr val="E2E8F0"/>
                </a:solidFill>
              </a:defRPr>
            </a:pPr>
            <a:r>
              <a:t>An Empirical Comparison of Three CTC-Based Deep Learning Approaches</a:t>
            </a:r>
          </a:p>
        </p:txBody>
      </p:sp>
      <p:sp>
        <p:nvSpPr>
          <p:cNvPr id="4" name="Rounded Rectangle 3"/>
          <p:cNvSpPr/>
          <p:nvPr/>
        </p:nvSpPr>
        <p:spPr>
          <a:xfrm>
            <a:off x="731520" y="4663440"/>
            <a:ext cx="6217920" cy="155448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754880"/>
            <a:ext cx="5852160" cy="1371600"/>
          </a:xfrm>
          <a:prstGeom prst="rect">
            <a:avLst/>
          </a:prstGeom>
          <a:noFill/>
        </p:spPr>
        <p:txBody>
          <a:bodyPr wrap="none">
            <a:spAutoFit/>
          </a:bodyPr>
          <a:lstStyle/>
          <a:p>
            <a:pPr>
              <a:defRPr sz="1600" b="1">
                <a:solidFill>
                  <a:srgbClr val="FFFFFF"/>
                </a:solidFill>
              </a:defRPr>
            </a:pPr>
            <a:r>
              <a:t>Hong Than Brathna  |  Software Engineering</a:t>
            </a:r>
          </a:p>
          <a:p>
            <a:pPr>
              <a:spcBef>
                <a:spcPts val="300"/>
              </a:spcBef>
              <a:defRPr sz="1300">
                <a:solidFill>
                  <a:srgbClr val="38BDF8"/>
                </a:solidFill>
              </a:defRPr>
            </a:pPr>
            <a:r>
              <a:t>Advisor / Lecturer: Mr. Soklong HIM  •  2026</a:t>
            </a:r>
          </a:p>
          <a:p>
            <a:pPr>
              <a:spcBef>
                <a:spcPts val="300"/>
              </a:spcBef>
              <a:defRPr sz="1100">
                <a:solidFill>
                  <a:srgbClr val="94A3B8"/>
                </a:solidFill>
              </a:defRPr>
            </a:pPr>
            <a:r>
              <a:t>Evaluation Protocol: Strict Writer-Disjoint Held-Out Benchmark (W007, W0011)</a:t>
            </a:r>
          </a:p>
        </p:txBody>
      </p:sp>
      <p:sp>
        <p:nvSpPr>
          <p:cNvPr id="6" name="Rounded Rectangle 5"/>
          <p:cNvSpPr/>
          <p:nvPr/>
        </p:nvSpPr>
        <p:spPr>
          <a:xfrm>
            <a:off x="7589520" y="1645920"/>
            <a:ext cx="3840480"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1755648"/>
            <a:ext cx="3474720" cy="1188720"/>
          </a:xfrm>
          <a:prstGeom prst="rect">
            <a:avLst/>
          </a:prstGeom>
          <a:noFill/>
        </p:spPr>
        <p:txBody>
          <a:bodyPr wrap="none">
            <a:spAutoFit/>
          </a:bodyPr>
          <a:lstStyle/>
          <a:p>
            <a:pPr>
              <a:defRPr sz="1100" b="1">
                <a:solidFill>
                  <a:srgbClr val="38BDF8"/>
                </a:solidFill>
              </a:defRPr>
            </a:pPr>
            <a:r>
              <a:t>1. Input Line</a:t>
            </a:r>
          </a:p>
        </p:txBody>
      </p:sp>
      <p:pic>
        <p:nvPicPr>
          <p:cNvPr id="8" name="Picture 7" descr="W0011_P001_L001.png"/>
          <p:cNvPicPr>
            <a:picLocks noChangeAspect="1"/>
          </p:cNvPicPr>
          <p:nvPr/>
        </p:nvPicPr>
        <p:blipFill>
          <a:blip r:embed="rId3"/>
          <a:stretch>
            <a:fillRect/>
          </a:stretch>
        </p:blipFill>
        <p:spPr>
          <a:xfrm>
            <a:off x="7772400" y="2084832"/>
            <a:ext cx="3474720" cy="248662"/>
          </a:xfrm>
          <a:prstGeom prst="rect">
            <a:avLst/>
          </a:prstGeom>
        </p:spPr>
      </p:pic>
      <p:sp>
        <p:nvSpPr>
          <p:cNvPr id="9" name="Rounded Rectangle 8"/>
          <p:cNvSpPr/>
          <p:nvPr/>
        </p:nvSpPr>
        <p:spPr>
          <a:xfrm>
            <a:off x="7589520" y="3246120"/>
            <a:ext cx="3840480"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3355848"/>
            <a:ext cx="3474720" cy="1188720"/>
          </a:xfrm>
          <a:prstGeom prst="rect">
            <a:avLst/>
          </a:prstGeom>
          <a:noFill/>
        </p:spPr>
        <p:txBody>
          <a:bodyPr wrap="none">
            <a:spAutoFit/>
          </a:bodyPr>
          <a:lstStyle/>
          <a:p>
            <a:pPr>
              <a:defRPr sz="1100" b="1">
                <a:solidFill>
                  <a:srgbClr val="38BDF8"/>
                </a:solidFill>
              </a:defRPr>
            </a:pPr>
            <a:r>
              <a:t>2. Deep Model</a:t>
            </a:r>
          </a:p>
          <a:p>
            <a:pPr>
              <a:spcBef>
                <a:spcPts val="800"/>
              </a:spcBef>
              <a:defRPr sz="1400" b="1">
                <a:solidFill>
                  <a:srgbClr val="FFFFFF"/>
                </a:solidFill>
              </a:defRPr>
            </a:pPr>
            <a:r>
              <a:t>VGG / ResNet / Transformer</a:t>
            </a:r>
          </a:p>
        </p:txBody>
      </p:sp>
      <p:sp>
        <p:nvSpPr>
          <p:cNvPr id="11" name="Rounded Rectangle 10"/>
          <p:cNvSpPr/>
          <p:nvPr/>
        </p:nvSpPr>
        <p:spPr>
          <a:xfrm>
            <a:off x="7589520" y="4846320"/>
            <a:ext cx="3840480"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956048"/>
            <a:ext cx="3474720" cy="1188720"/>
          </a:xfrm>
          <a:prstGeom prst="rect">
            <a:avLst/>
          </a:prstGeom>
          <a:noFill/>
        </p:spPr>
        <p:txBody>
          <a:bodyPr wrap="none">
            <a:spAutoFit/>
          </a:bodyPr>
          <a:lstStyle/>
          <a:p>
            <a:pPr>
              <a:defRPr sz="1100" b="1">
                <a:solidFill>
                  <a:srgbClr val="38BDF8"/>
                </a:solidFill>
              </a:defRPr>
            </a:pPr>
            <a:r>
              <a:t>3. Unicode Text</a:t>
            </a:r>
          </a:p>
          <a:p>
            <a:pPr>
              <a:spcBef>
                <a:spcPts val="800"/>
              </a:spcBef>
              <a:defRPr sz="1400" b="1">
                <a:solidFill>
                  <a:srgbClr val="FFFFFF"/>
                </a:solidFill>
              </a:defRPr>
            </a:pPr>
            <a:r>
              <a:t>ព្រឹកនេះ នៅក្នុងបន្ទប់...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02  PROBLEM STATEMENT</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Why is Khmer Handwritten OCR </a:t>
            </a:r>
            <a:r>
              <a:rPr sz="2800" b="1">
                <a:solidFill>
                  <a:srgbClr val="38BDF8"/>
                </a:solidFill>
              </a:rPr>
              <a:t>Uniquely Difficult?</a:t>
            </a:r>
          </a:p>
          <a:p>
            <a:pPr>
              <a:spcBef>
                <a:spcPts val="300"/>
              </a:spcBef>
              <a:defRPr sz="1200">
                <a:solidFill>
                  <a:srgbClr val="94A3B8"/>
                </a:solidFill>
              </a:defRPr>
            </a:pPr>
            <a:r>
              <a:t>Khmer script violates standard Western OCR linear segmentation assumptions.</a:t>
            </a:r>
          </a:p>
        </p:txBody>
      </p:sp>
      <p:sp>
        <p:nvSpPr>
          <p:cNvPr id="5" name="Rounded Rectangle 4"/>
          <p:cNvSpPr/>
          <p:nvPr/>
        </p:nvSpPr>
        <p:spPr>
          <a:xfrm>
            <a:off x="731520" y="1737360"/>
            <a:ext cx="5303520" cy="466344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hmer_script_anatomy.jpg"/>
          <p:cNvPicPr>
            <a:picLocks noChangeAspect="1"/>
          </p:cNvPicPr>
          <p:nvPr/>
        </p:nvPicPr>
        <p:blipFill>
          <a:blip r:embed="rId3"/>
          <a:stretch>
            <a:fillRect/>
          </a:stretch>
        </p:blipFill>
        <p:spPr>
          <a:xfrm>
            <a:off x="822960" y="1828800"/>
            <a:ext cx="5120640" cy="2858032"/>
          </a:xfrm>
          <a:prstGeom prst="rect">
            <a:avLst/>
          </a:prstGeom>
        </p:spPr>
      </p:pic>
      <p:sp>
        <p:nvSpPr>
          <p:cNvPr id="7" name="Rounded Rectangle 6"/>
          <p:cNvSpPr/>
          <p:nvPr/>
        </p:nvSpPr>
        <p:spPr>
          <a:xfrm>
            <a:off x="6309360" y="17373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47088"/>
            <a:ext cx="4754880" cy="1188720"/>
          </a:xfrm>
          <a:prstGeom prst="rect">
            <a:avLst/>
          </a:prstGeom>
          <a:noFill/>
        </p:spPr>
        <p:txBody>
          <a:bodyPr wrap="square">
            <a:spAutoFit/>
          </a:bodyPr>
          <a:lstStyle/>
          <a:p>
            <a:pPr>
              <a:defRPr sz="1300" b="1">
                <a:solidFill>
                  <a:srgbClr val="38BDF8"/>
                </a:solidFill>
              </a:defRPr>
            </a:pPr>
            <a:r>
              <a:t>1. Multi-Tier Vertical Stacking</a:t>
            </a:r>
          </a:p>
          <a:p>
            <a:pPr>
              <a:spcBef>
                <a:spcPts val="300"/>
              </a:spcBef>
              <a:defRPr sz="1050">
                <a:solidFill>
                  <a:srgbClr val="E2E8F0"/>
                </a:solidFill>
              </a:defRPr>
            </a:pPr>
            <a:r>
              <a:t>Characters stack across 3 tiers (Upper Vowel, Base, and Subscript Coeng).</a:t>
            </a:r>
            <a:br/>
            <a:r>
              <a:t>Traditional linear bounding-box segmentation destroys character meaning.</a:t>
            </a:r>
          </a:p>
        </p:txBody>
      </p:sp>
      <p:sp>
        <p:nvSpPr>
          <p:cNvPr id="9" name="Rounded Rectangle 8"/>
          <p:cNvSpPr/>
          <p:nvPr/>
        </p:nvSpPr>
        <p:spPr>
          <a:xfrm>
            <a:off x="6309360" y="33375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3447288"/>
            <a:ext cx="4754880" cy="1188720"/>
          </a:xfrm>
          <a:prstGeom prst="rect">
            <a:avLst/>
          </a:prstGeom>
          <a:noFill/>
        </p:spPr>
        <p:txBody>
          <a:bodyPr wrap="square">
            <a:spAutoFit/>
          </a:bodyPr>
          <a:lstStyle/>
          <a:p>
            <a:pPr>
              <a:defRPr sz="1300" b="1">
                <a:solidFill>
                  <a:srgbClr val="38BDF8"/>
                </a:solidFill>
              </a:defRPr>
            </a:pPr>
            <a:r>
              <a:t>2. Continuous Script (Zero Spaces)</a:t>
            </a:r>
          </a:p>
          <a:p>
            <a:pPr>
              <a:spcBef>
                <a:spcPts val="300"/>
              </a:spcBef>
              <a:defRPr sz="1050">
                <a:solidFill>
                  <a:srgbClr val="E2E8F0"/>
                </a:solidFill>
              </a:defRPr>
            </a:pPr>
            <a:r>
              <a:t>Words flow seamlessly without whitespace boundaries.</a:t>
            </a:r>
            <a:br/>
            <a:r>
              <a:t>Requires temporal sequence alignment via CTC loss instead of word slicing.</a:t>
            </a:r>
          </a:p>
        </p:txBody>
      </p:sp>
      <p:sp>
        <p:nvSpPr>
          <p:cNvPr id="11" name="Rounded Rectangle 10"/>
          <p:cNvSpPr/>
          <p:nvPr/>
        </p:nvSpPr>
        <p:spPr>
          <a:xfrm>
            <a:off x="6309360" y="49377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5047488"/>
            <a:ext cx="4754880" cy="1188720"/>
          </a:xfrm>
          <a:prstGeom prst="rect">
            <a:avLst/>
          </a:prstGeom>
          <a:noFill/>
        </p:spPr>
        <p:txBody>
          <a:bodyPr wrap="square">
            <a:spAutoFit/>
          </a:bodyPr>
          <a:lstStyle/>
          <a:p>
            <a:pPr>
              <a:defRPr sz="1300" b="1">
                <a:solidFill>
                  <a:srgbClr val="38BDF8"/>
                </a:solidFill>
              </a:defRPr>
            </a:pPr>
            <a:r>
              <a:t>3. High Inter-Writer Variability</a:t>
            </a:r>
          </a:p>
          <a:p>
            <a:pPr>
              <a:spcBef>
                <a:spcPts val="300"/>
              </a:spcBef>
              <a:defRPr sz="1050">
                <a:solidFill>
                  <a:srgbClr val="E2E8F0"/>
                </a:solidFill>
              </a:defRPr>
            </a:pPr>
            <a:r>
              <a:t>Cursive loop collapse creates visual twins (ព vs យ, ត vs ដ).</a:t>
            </a:r>
            <a:br/>
            <a:r>
              <a:t>Strict writer-disjoint splitting is required to prevent style memorization.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03  SYSTEM PIPELINE</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End-to-End </a:t>
            </a:r>
            <a:r>
              <a:rPr sz="2800" b="1">
                <a:solidFill>
                  <a:srgbClr val="38BDF8"/>
                </a:solidFill>
              </a:rPr>
              <a:t>Recognition Pipeline</a:t>
            </a:r>
          </a:p>
          <a:p>
            <a:pPr>
              <a:spcBef>
                <a:spcPts val="300"/>
              </a:spcBef>
              <a:defRPr sz="1200">
                <a:solidFill>
                  <a:srgbClr val="94A3B8"/>
                </a:solidFill>
              </a:defRPr>
            </a:pPr>
            <a:r>
              <a:t>Transforms unconstrained handwritten line images into Unicode text.</a:t>
            </a:r>
          </a:p>
        </p:txBody>
      </p:sp>
      <p:sp>
        <p:nvSpPr>
          <p:cNvPr id="5" name="Rounded Rectangle 4"/>
          <p:cNvSpPr/>
          <p:nvPr/>
        </p:nvSpPr>
        <p:spPr>
          <a:xfrm>
            <a:off x="731520"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11680"/>
            <a:ext cx="1463040" cy="2194560"/>
          </a:xfrm>
          <a:prstGeom prst="rect">
            <a:avLst/>
          </a:prstGeom>
          <a:noFill/>
        </p:spPr>
        <p:txBody>
          <a:bodyPr wrap="square">
            <a:spAutoFit/>
          </a:bodyPr>
          <a:lstStyle/>
          <a:p>
            <a:pPr algn="ctr">
              <a:defRPr sz="1400" b="1">
                <a:solidFill>
                  <a:srgbClr val="38BDF8"/>
                </a:solidFill>
              </a:defRPr>
            </a:pPr>
            <a:r>
              <a:t>1. Input</a:t>
            </a:r>
          </a:p>
          <a:p>
            <a:pPr algn="ctr">
              <a:spcBef>
                <a:spcPts val="1000"/>
              </a:spcBef>
              <a:defRPr sz="1300" b="1">
                <a:solidFill>
                  <a:srgbClr val="FFFFFF"/>
                </a:solidFill>
              </a:defRPr>
            </a:pPr>
            <a:r>
              <a:t>Raw Line Image</a:t>
            </a:r>
          </a:p>
          <a:p>
            <a:pPr algn="ctr">
              <a:spcBef>
                <a:spcPts val="600"/>
              </a:spcBef>
              <a:defRPr sz="1000">
                <a:solidFill>
                  <a:srgbClr val="94A3B8"/>
                </a:solidFill>
              </a:defRPr>
            </a:pPr>
            <a:r>
              <a:t>Variable width crop</a:t>
            </a:r>
          </a:p>
        </p:txBody>
      </p:sp>
      <p:sp>
        <p:nvSpPr>
          <p:cNvPr id="7" name="Rounded Rectangle 6"/>
          <p:cNvSpPr/>
          <p:nvPr/>
        </p:nvSpPr>
        <p:spPr>
          <a:xfrm>
            <a:off x="2542032"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33472" y="2011680"/>
            <a:ext cx="1463040" cy="2194560"/>
          </a:xfrm>
          <a:prstGeom prst="rect">
            <a:avLst/>
          </a:prstGeom>
          <a:noFill/>
        </p:spPr>
        <p:txBody>
          <a:bodyPr wrap="square">
            <a:spAutoFit/>
          </a:bodyPr>
          <a:lstStyle/>
          <a:p>
            <a:pPr algn="ctr">
              <a:defRPr sz="1400" b="1">
                <a:solidFill>
                  <a:srgbClr val="38BDF8"/>
                </a:solidFill>
              </a:defRPr>
            </a:pPr>
            <a:r>
              <a:t>2. Normalize</a:t>
            </a:r>
          </a:p>
          <a:p>
            <a:pPr algn="ctr">
              <a:spcBef>
                <a:spcPts val="1000"/>
              </a:spcBef>
              <a:defRPr sz="1300" b="1">
                <a:solidFill>
                  <a:srgbClr val="FFFFFF"/>
                </a:solidFill>
              </a:defRPr>
            </a:pPr>
            <a:r>
              <a:t>Height 48px</a:t>
            </a:r>
          </a:p>
          <a:p>
            <a:pPr algn="ctr">
              <a:spcBef>
                <a:spcPts val="600"/>
              </a:spcBef>
              <a:defRPr sz="1000">
                <a:solidFill>
                  <a:srgbClr val="94A3B8"/>
                </a:solidFill>
              </a:defRPr>
            </a:pPr>
            <a:r>
              <a:t>Preserve aspect ratio</a:t>
            </a:r>
          </a:p>
        </p:txBody>
      </p:sp>
      <p:sp>
        <p:nvSpPr>
          <p:cNvPr id="9" name="Rounded Rectangle 8"/>
          <p:cNvSpPr/>
          <p:nvPr/>
        </p:nvSpPr>
        <p:spPr>
          <a:xfrm>
            <a:off x="4352544"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3984" y="2011680"/>
            <a:ext cx="1463040" cy="2194560"/>
          </a:xfrm>
          <a:prstGeom prst="rect">
            <a:avLst/>
          </a:prstGeom>
          <a:noFill/>
        </p:spPr>
        <p:txBody>
          <a:bodyPr wrap="square">
            <a:spAutoFit/>
          </a:bodyPr>
          <a:lstStyle/>
          <a:p>
            <a:pPr algn="ctr">
              <a:defRPr sz="1400" b="1">
                <a:solidFill>
                  <a:srgbClr val="38BDF8"/>
                </a:solidFill>
              </a:defRPr>
            </a:pPr>
            <a:r>
              <a:t>3. CNN</a:t>
            </a:r>
          </a:p>
          <a:p>
            <a:pPr algn="ctr">
              <a:spcBef>
                <a:spcPts val="1000"/>
              </a:spcBef>
              <a:defRPr sz="1300" b="1">
                <a:solidFill>
                  <a:srgbClr val="FFFFFF"/>
                </a:solidFill>
              </a:defRPr>
            </a:pPr>
            <a:r>
              <a:t>Feature Maps</a:t>
            </a:r>
          </a:p>
          <a:p>
            <a:pPr algn="ctr">
              <a:spcBef>
                <a:spcPts val="600"/>
              </a:spcBef>
              <a:defRPr sz="1000">
                <a:solidFill>
                  <a:srgbClr val="94A3B8"/>
                </a:solidFill>
              </a:defRPr>
            </a:pPr>
            <a:r>
              <a:t>Asymmetric pool (2,1)</a:t>
            </a:r>
          </a:p>
        </p:txBody>
      </p:sp>
      <p:sp>
        <p:nvSpPr>
          <p:cNvPr id="11" name="Rounded Rectangle 10"/>
          <p:cNvSpPr/>
          <p:nvPr/>
        </p:nvSpPr>
        <p:spPr>
          <a:xfrm>
            <a:off x="6163056"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4496" y="2011680"/>
            <a:ext cx="1463040" cy="2194560"/>
          </a:xfrm>
          <a:prstGeom prst="rect">
            <a:avLst/>
          </a:prstGeom>
          <a:noFill/>
        </p:spPr>
        <p:txBody>
          <a:bodyPr wrap="square">
            <a:spAutoFit/>
          </a:bodyPr>
          <a:lstStyle/>
          <a:p>
            <a:pPr algn="ctr">
              <a:defRPr sz="1400" b="1">
                <a:solidFill>
                  <a:srgbClr val="38BDF8"/>
                </a:solidFill>
              </a:defRPr>
            </a:pPr>
            <a:r>
              <a:t>4. Sequence</a:t>
            </a:r>
          </a:p>
          <a:p>
            <a:pPr algn="ctr">
              <a:spcBef>
                <a:spcPts val="1000"/>
              </a:spcBef>
              <a:defRPr sz="1300" b="1">
                <a:solidFill>
                  <a:srgbClr val="FFFFFF"/>
                </a:solidFill>
              </a:defRPr>
            </a:pPr>
            <a:r>
              <a:t>BiLSTM / Transf.</a:t>
            </a:r>
          </a:p>
          <a:p>
            <a:pPr algn="ctr">
              <a:spcBef>
                <a:spcPts val="600"/>
              </a:spcBef>
              <a:defRPr sz="1000">
                <a:solidFill>
                  <a:srgbClr val="94A3B8"/>
                </a:solidFill>
              </a:defRPr>
            </a:pPr>
            <a:r>
              <a:t>Temporal context</a:t>
            </a:r>
          </a:p>
        </p:txBody>
      </p:sp>
      <p:sp>
        <p:nvSpPr>
          <p:cNvPr id="13" name="Rounded Rectangle 12"/>
          <p:cNvSpPr/>
          <p:nvPr/>
        </p:nvSpPr>
        <p:spPr>
          <a:xfrm>
            <a:off x="7973568"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2011680"/>
            <a:ext cx="1463040" cy="2194560"/>
          </a:xfrm>
          <a:prstGeom prst="rect">
            <a:avLst/>
          </a:prstGeom>
          <a:noFill/>
        </p:spPr>
        <p:txBody>
          <a:bodyPr wrap="square">
            <a:spAutoFit/>
          </a:bodyPr>
          <a:lstStyle/>
          <a:p>
            <a:pPr algn="ctr">
              <a:defRPr sz="1400" b="1">
                <a:solidFill>
                  <a:srgbClr val="38BDF8"/>
                </a:solidFill>
              </a:defRPr>
            </a:pPr>
            <a:r>
              <a:t>5. CTC Head</a:t>
            </a:r>
          </a:p>
          <a:p>
            <a:pPr algn="ctr">
              <a:spcBef>
                <a:spcPts val="1000"/>
              </a:spcBef>
              <a:defRPr sz="1300" b="1">
                <a:solidFill>
                  <a:srgbClr val="FFFFFF"/>
                </a:solidFill>
              </a:defRPr>
            </a:pPr>
            <a:r>
              <a:t>87 Classes</a:t>
            </a:r>
          </a:p>
          <a:p>
            <a:pPr algn="ctr">
              <a:spcBef>
                <a:spcPts val="600"/>
              </a:spcBef>
              <a:defRPr sz="1000">
                <a:solidFill>
                  <a:srgbClr val="94A3B8"/>
                </a:solidFill>
              </a:defRPr>
            </a:pPr>
            <a:r>
              <a:t>Greedy decode</a:t>
            </a:r>
          </a:p>
        </p:txBody>
      </p:sp>
      <p:sp>
        <p:nvSpPr>
          <p:cNvPr id="15" name="Rounded Rectangle 14"/>
          <p:cNvSpPr/>
          <p:nvPr/>
        </p:nvSpPr>
        <p:spPr>
          <a:xfrm>
            <a:off x="9784080" y="1828800"/>
            <a:ext cx="1645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0" y="2011680"/>
            <a:ext cx="1463040" cy="2194560"/>
          </a:xfrm>
          <a:prstGeom prst="rect">
            <a:avLst/>
          </a:prstGeom>
          <a:noFill/>
        </p:spPr>
        <p:txBody>
          <a:bodyPr wrap="square">
            <a:spAutoFit/>
          </a:bodyPr>
          <a:lstStyle/>
          <a:p>
            <a:pPr algn="ctr">
              <a:defRPr sz="1400" b="1">
                <a:solidFill>
                  <a:srgbClr val="38BDF8"/>
                </a:solidFill>
              </a:defRPr>
            </a:pPr>
            <a:r>
              <a:t>6. Text</a:t>
            </a:r>
          </a:p>
          <a:p>
            <a:pPr algn="ctr">
              <a:spcBef>
                <a:spcPts val="1000"/>
              </a:spcBef>
              <a:defRPr sz="1300" b="1">
                <a:solidFill>
                  <a:srgbClr val="FFFFFF"/>
                </a:solidFill>
              </a:defRPr>
            </a:pPr>
            <a:r>
              <a:t>Unicode Output</a:t>
            </a:r>
          </a:p>
          <a:p>
            <a:pPr algn="ctr">
              <a:spcBef>
                <a:spcPts val="600"/>
              </a:spcBef>
              <a:defRPr sz="1000">
                <a:solidFill>
                  <a:srgbClr val="94A3B8"/>
                </a:solidFill>
              </a:defRPr>
            </a:pPr>
            <a:r>
              <a:t>NFC normalized</a:t>
            </a:r>
          </a:p>
        </p:txBody>
      </p:sp>
      <p:sp>
        <p:nvSpPr>
          <p:cNvPr id="17" name="Rounded Rectangle 16"/>
          <p:cNvSpPr/>
          <p:nvPr/>
        </p:nvSpPr>
        <p:spPr>
          <a:xfrm>
            <a:off x="731520" y="4663440"/>
            <a:ext cx="3413455" cy="17373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800600"/>
            <a:ext cx="3139135" cy="1463040"/>
          </a:xfrm>
          <a:prstGeom prst="rect">
            <a:avLst/>
          </a:prstGeom>
          <a:noFill/>
        </p:spPr>
        <p:txBody>
          <a:bodyPr wrap="square">
            <a:spAutoFit/>
          </a:bodyPr>
          <a:lstStyle/>
          <a:p>
            <a:pPr>
              <a:defRPr sz="1200" b="1">
                <a:solidFill>
                  <a:srgbClr val="38BDF8"/>
                </a:solidFill>
              </a:defRPr>
            </a:pPr>
            <a:r>
              <a:t>Input Normalization</a:t>
            </a:r>
          </a:p>
          <a:p>
            <a:pPr>
              <a:spcBef>
                <a:spcPts val="400"/>
              </a:spcBef>
              <a:defRPr sz="1050">
                <a:solidFill>
                  <a:srgbClr val="E2E8F0"/>
                </a:solidFill>
              </a:defRPr>
            </a:pPr>
            <a:r>
              <a:t>Grayscale 1-channel, height 48px, horizontal max width 1600px with zero vertical squishing.</a:t>
            </a:r>
          </a:p>
        </p:txBody>
      </p:sp>
      <p:sp>
        <p:nvSpPr>
          <p:cNvPr id="19" name="Rounded Rectangle 18"/>
          <p:cNvSpPr/>
          <p:nvPr/>
        </p:nvSpPr>
        <p:spPr>
          <a:xfrm>
            <a:off x="4388205" y="4663440"/>
            <a:ext cx="3413455" cy="17373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5365" y="4800600"/>
            <a:ext cx="3139135" cy="1463040"/>
          </a:xfrm>
          <a:prstGeom prst="rect">
            <a:avLst/>
          </a:prstGeom>
          <a:noFill/>
        </p:spPr>
        <p:txBody>
          <a:bodyPr wrap="square">
            <a:spAutoFit/>
          </a:bodyPr>
          <a:lstStyle/>
          <a:p>
            <a:pPr>
              <a:defRPr sz="1200" b="1">
                <a:solidFill>
                  <a:srgbClr val="38BDF8"/>
                </a:solidFill>
              </a:defRPr>
            </a:pPr>
            <a:r>
              <a:t>Unicode NFC Vocabulary</a:t>
            </a:r>
          </a:p>
          <a:p>
            <a:pPr>
              <a:spcBef>
                <a:spcPts val="400"/>
              </a:spcBef>
              <a:defRPr sz="1050">
                <a:solidFill>
                  <a:srgbClr val="E2E8F0"/>
                </a:solidFill>
              </a:defRPr>
            </a:pPr>
            <a:r>
              <a:t>86 total classes (33 consonants, 31 vowels/diacritics, 8 punctuation + Index 0 for CTC &lt;blank&gt;).</a:t>
            </a:r>
          </a:p>
        </p:txBody>
      </p:sp>
      <p:sp>
        <p:nvSpPr>
          <p:cNvPr id="21" name="Rounded Rectangle 20"/>
          <p:cNvSpPr/>
          <p:nvPr/>
        </p:nvSpPr>
        <p:spPr>
          <a:xfrm>
            <a:off x="8044890" y="4663440"/>
            <a:ext cx="3413455" cy="17373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2050" y="4800600"/>
            <a:ext cx="3139135" cy="1463040"/>
          </a:xfrm>
          <a:prstGeom prst="rect">
            <a:avLst/>
          </a:prstGeom>
          <a:noFill/>
        </p:spPr>
        <p:txBody>
          <a:bodyPr wrap="square">
            <a:spAutoFit/>
          </a:bodyPr>
          <a:lstStyle/>
          <a:p>
            <a:pPr>
              <a:defRPr sz="1200" b="1">
                <a:solidFill>
                  <a:srgbClr val="38BDF8"/>
                </a:solidFill>
              </a:defRPr>
            </a:pPr>
            <a:r>
              <a:t>Orthographic Rule Cleaner</a:t>
            </a:r>
          </a:p>
          <a:p>
            <a:pPr>
              <a:spcBef>
                <a:spcPts val="400"/>
              </a:spcBef>
              <a:defRPr sz="1050">
                <a:solidFill>
                  <a:srgbClr val="E2E8F0"/>
                </a:solidFill>
              </a:defRPr>
            </a:pPr>
            <a:r>
              <a:t>Deterministic rule cleaner fixes duplicate vowels, invalid coeng stacking, and diacritic ordering.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04  DATASET INTEGRITY</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Writer-Disjoint </a:t>
            </a:r>
            <a:r>
              <a:rPr sz="2800" b="1">
                <a:solidFill>
                  <a:srgbClr val="38BDF8"/>
                </a:solidFill>
              </a:rPr>
              <a:t>Evaluation Protocol</a:t>
            </a:r>
          </a:p>
          <a:p>
            <a:pPr>
              <a:spcBef>
                <a:spcPts val="300"/>
              </a:spcBef>
              <a:defRPr sz="1200">
                <a:solidFill>
                  <a:srgbClr val="94A3B8"/>
                </a:solidFill>
              </a:defRPr>
            </a:pPr>
            <a:r>
              <a:t>Zero writer data leakage: test writers never appear in training or validation splits.</a:t>
            </a:r>
          </a:p>
        </p:txBody>
      </p:sp>
      <p:sp>
        <p:nvSpPr>
          <p:cNvPr id="5" name="Rounded Rectangle 4"/>
          <p:cNvSpPr/>
          <p:nvPr/>
        </p:nvSpPr>
        <p:spPr>
          <a:xfrm>
            <a:off x="731520" y="1737360"/>
            <a:ext cx="2468880" cy="21031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74519"/>
            <a:ext cx="2194560" cy="1828800"/>
          </a:xfrm>
          <a:prstGeom prst="rect">
            <a:avLst/>
          </a:prstGeom>
          <a:noFill/>
        </p:spPr>
        <p:txBody>
          <a:bodyPr wrap="square">
            <a:spAutoFit/>
          </a:bodyPr>
          <a:lstStyle/>
          <a:p>
            <a:pPr>
              <a:defRPr sz="1200" b="1">
                <a:solidFill>
                  <a:srgbClr val="38BDF8"/>
                </a:solidFill>
              </a:defRPr>
            </a:pPr>
            <a:r>
              <a:t>Training Set</a:t>
            </a:r>
          </a:p>
          <a:p>
            <a:pPr>
              <a:spcBef>
                <a:spcPts val="200"/>
              </a:spcBef>
              <a:defRPr sz="4000" b="1">
                <a:solidFill>
                  <a:srgbClr val="FFFFFF"/>
                </a:solidFill>
              </a:defRPr>
            </a:pPr>
            <a:r>
              <a:t>177</a:t>
            </a:r>
          </a:p>
          <a:p>
            <a:pPr>
              <a:defRPr sz="1000">
                <a:solidFill>
                  <a:srgbClr val="94A3B8"/>
                </a:solidFill>
              </a:defRPr>
            </a:pPr>
            <a:r>
              <a:t>Handwritten Lines</a:t>
            </a:r>
            <a:br/>
            <a:r>
              <a:t>7 Human Writers (W001-W006, W008)</a:t>
            </a:r>
          </a:p>
        </p:txBody>
      </p:sp>
      <p:sp>
        <p:nvSpPr>
          <p:cNvPr id="7" name="Rounded Rectangle 6"/>
          <p:cNvSpPr/>
          <p:nvPr/>
        </p:nvSpPr>
        <p:spPr>
          <a:xfrm>
            <a:off x="3383280" y="1737360"/>
            <a:ext cx="2468880" cy="21031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74519"/>
            <a:ext cx="2194560" cy="1828800"/>
          </a:xfrm>
          <a:prstGeom prst="rect">
            <a:avLst/>
          </a:prstGeom>
          <a:noFill/>
        </p:spPr>
        <p:txBody>
          <a:bodyPr wrap="square">
            <a:spAutoFit/>
          </a:bodyPr>
          <a:lstStyle/>
          <a:p>
            <a:pPr>
              <a:defRPr sz="1200" b="1">
                <a:solidFill>
                  <a:srgbClr val="38BDF8"/>
                </a:solidFill>
              </a:defRPr>
            </a:pPr>
            <a:r>
              <a:t>Validation Set</a:t>
            </a:r>
          </a:p>
          <a:p>
            <a:pPr>
              <a:spcBef>
                <a:spcPts val="200"/>
              </a:spcBef>
              <a:defRPr sz="4000" b="1">
                <a:solidFill>
                  <a:srgbClr val="FFFFFF"/>
                </a:solidFill>
              </a:defRPr>
            </a:pPr>
            <a:r>
              <a:t>50</a:t>
            </a:r>
          </a:p>
          <a:p>
            <a:pPr>
              <a:defRPr sz="1000">
                <a:solidFill>
                  <a:srgbClr val="94A3B8"/>
                </a:solidFill>
              </a:defRPr>
            </a:pPr>
            <a:r>
              <a:t>Handwritten Lines</a:t>
            </a:r>
            <a:br/>
            <a:r>
              <a:t>2 Human Writers (W009, W010)</a:t>
            </a:r>
          </a:p>
        </p:txBody>
      </p:sp>
      <p:sp>
        <p:nvSpPr>
          <p:cNvPr id="9" name="Rounded Rectangle 8"/>
          <p:cNvSpPr/>
          <p:nvPr/>
        </p:nvSpPr>
        <p:spPr>
          <a:xfrm>
            <a:off x="6035040" y="1737360"/>
            <a:ext cx="2468880" cy="21031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874519"/>
            <a:ext cx="2194560" cy="1828800"/>
          </a:xfrm>
          <a:prstGeom prst="rect">
            <a:avLst/>
          </a:prstGeom>
          <a:noFill/>
        </p:spPr>
        <p:txBody>
          <a:bodyPr wrap="square">
            <a:spAutoFit/>
          </a:bodyPr>
          <a:lstStyle/>
          <a:p>
            <a:pPr>
              <a:defRPr sz="1200" b="1">
                <a:solidFill>
                  <a:srgbClr val="22C55E"/>
                </a:solidFill>
              </a:defRPr>
            </a:pPr>
            <a:r>
              <a:t>Held-Out Test Set</a:t>
            </a:r>
          </a:p>
          <a:p>
            <a:pPr>
              <a:spcBef>
                <a:spcPts val="200"/>
              </a:spcBef>
              <a:defRPr sz="4000" b="1">
                <a:solidFill>
                  <a:srgbClr val="FFFFFF"/>
                </a:solidFill>
              </a:defRPr>
            </a:pPr>
            <a:r>
              <a:t>50</a:t>
            </a:r>
          </a:p>
          <a:p>
            <a:pPr>
              <a:defRPr sz="1000">
                <a:solidFill>
                  <a:srgbClr val="94A3B8"/>
                </a:solidFill>
              </a:defRPr>
            </a:pPr>
            <a:r>
              <a:t>Handwritten Lines</a:t>
            </a:r>
            <a:br/>
            <a:r>
              <a:t>2 Unseen Writers (W007, W0011)</a:t>
            </a:r>
          </a:p>
        </p:txBody>
      </p:sp>
      <p:sp>
        <p:nvSpPr>
          <p:cNvPr id="11" name="Rounded Rectangle 10"/>
          <p:cNvSpPr/>
          <p:nvPr/>
        </p:nvSpPr>
        <p:spPr>
          <a:xfrm>
            <a:off x="8686800" y="1737360"/>
            <a:ext cx="2773375" cy="210312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23960" y="1874519"/>
            <a:ext cx="2468880" cy="1828800"/>
          </a:xfrm>
          <a:prstGeom prst="rect">
            <a:avLst/>
          </a:prstGeom>
          <a:noFill/>
        </p:spPr>
        <p:txBody>
          <a:bodyPr wrap="square">
            <a:spAutoFit/>
          </a:bodyPr>
          <a:lstStyle/>
          <a:p>
            <a:pPr>
              <a:defRPr sz="1300" b="1">
                <a:solidFill>
                  <a:srgbClr val="38BDF8"/>
                </a:solidFill>
              </a:defRPr>
            </a:pPr>
            <a:r>
              <a:t>🛡️ Academic Rigor</a:t>
            </a:r>
          </a:p>
          <a:p>
            <a:pPr>
              <a:spcBef>
                <a:spcPts val="400"/>
              </a:spcBef>
              <a:defRPr sz="1000">
                <a:solidFill>
                  <a:srgbClr val="E2E8F0"/>
                </a:solidFill>
              </a:defRPr>
            </a:pPr>
            <a:r>
              <a:t>● Random splitting causes memorization of pen pressure and style.</a:t>
            </a:r>
            <a:br/>
            <a:r>
              <a:t>● Our locked writer-disjoint split evaluates true generalization to unseen authors.</a:t>
            </a:r>
            <a:br/>
            <a:r>
              <a:t>● W007 &amp; W0011 were strictly untouched during all training.</a:t>
            </a:r>
          </a:p>
        </p:txBody>
      </p:sp>
      <p:sp>
        <p:nvSpPr>
          <p:cNvPr id="13" name="Rounded Rectangle 12"/>
          <p:cNvSpPr/>
          <p:nvPr/>
        </p:nvSpPr>
        <p:spPr>
          <a:xfrm>
            <a:off x="731520" y="4114800"/>
            <a:ext cx="10728655" cy="22860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06240"/>
            <a:ext cx="10332720" cy="320040"/>
          </a:xfrm>
          <a:prstGeom prst="rect">
            <a:avLst/>
          </a:prstGeom>
          <a:noFill/>
        </p:spPr>
        <p:txBody>
          <a:bodyPr wrap="none">
            <a:spAutoFit/>
          </a:bodyPr>
          <a:lstStyle/>
          <a:p>
            <a:pPr>
              <a:defRPr sz="1200" b="1">
                <a:solidFill>
                  <a:srgbClr val="38BDF8"/>
                </a:solidFill>
              </a:defRPr>
            </a:pPr>
            <a:r>
              <a:t>Verified Handwritten Line Crops from Each Split</a:t>
            </a:r>
          </a:p>
        </p:txBody>
      </p:sp>
      <p:pic>
        <p:nvPicPr>
          <p:cNvPr id="15" name="Picture 14" descr="W008_P002_L006.png"/>
          <p:cNvPicPr>
            <a:picLocks noChangeAspect="1"/>
          </p:cNvPicPr>
          <p:nvPr/>
        </p:nvPicPr>
        <p:blipFill>
          <a:blip r:embed="rId3"/>
          <a:stretch>
            <a:fillRect/>
          </a:stretch>
        </p:blipFill>
        <p:spPr>
          <a:xfrm>
            <a:off x="914400" y="4663440"/>
            <a:ext cx="3200400" cy="182991"/>
          </a:xfrm>
          <a:prstGeom prst="rect">
            <a:avLst/>
          </a:prstGeom>
        </p:spPr>
      </p:pic>
      <p:sp>
        <p:nvSpPr>
          <p:cNvPr id="16" name="TextBox 15"/>
          <p:cNvSpPr txBox="1"/>
          <p:nvPr/>
        </p:nvSpPr>
        <p:spPr>
          <a:xfrm>
            <a:off x="914400" y="5897880"/>
            <a:ext cx="3200400" cy="320040"/>
          </a:xfrm>
          <a:prstGeom prst="rect">
            <a:avLst/>
          </a:prstGeom>
          <a:noFill/>
        </p:spPr>
        <p:txBody>
          <a:bodyPr wrap="none">
            <a:spAutoFit/>
          </a:bodyPr>
          <a:lstStyle/>
          <a:p>
            <a:pPr algn="ctr">
              <a:defRPr sz="1000">
                <a:solidFill>
                  <a:srgbClr val="94A3B8"/>
                </a:solidFill>
              </a:defRPr>
            </a:pPr>
            <a:r>
              <a:t>Train Line (Writer W008)</a:t>
            </a:r>
          </a:p>
        </p:txBody>
      </p:sp>
      <p:pic>
        <p:nvPicPr>
          <p:cNvPr id="17" name="Picture 16" descr="W009_P002_L008.png"/>
          <p:cNvPicPr>
            <a:picLocks noChangeAspect="1"/>
          </p:cNvPicPr>
          <p:nvPr/>
        </p:nvPicPr>
        <p:blipFill>
          <a:blip r:embed="rId4"/>
          <a:stretch>
            <a:fillRect/>
          </a:stretch>
        </p:blipFill>
        <p:spPr>
          <a:xfrm>
            <a:off x="4480560" y="4663440"/>
            <a:ext cx="3200400" cy="171589"/>
          </a:xfrm>
          <a:prstGeom prst="rect">
            <a:avLst/>
          </a:prstGeom>
        </p:spPr>
      </p:pic>
      <p:sp>
        <p:nvSpPr>
          <p:cNvPr id="18" name="TextBox 17"/>
          <p:cNvSpPr txBox="1"/>
          <p:nvPr/>
        </p:nvSpPr>
        <p:spPr>
          <a:xfrm>
            <a:off x="4480560" y="5897880"/>
            <a:ext cx="3200400" cy="320040"/>
          </a:xfrm>
          <a:prstGeom prst="rect">
            <a:avLst/>
          </a:prstGeom>
          <a:noFill/>
        </p:spPr>
        <p:txBody>
          <a:bodyPr wrap="none">
            <a:spAutoFit/>
          </a:bodyPr>
          <a:lstStyle/>
          <a:p>
            <a:pPr algn="ctr">
              <a:defRPr sz="1000">
                <a:solidFill>
                  <a:srgbClr val="94A3B8"/>
                </a:solidFill>
              </a:defRPr>
            </a:pPr>
            <a:r>
              <a:t>Validation Line (Writer W009)</a:t>
            </a:r>
          </a:p>
        </p:txBody>
      </p:sp>
      <p:pic>
        <p:nvPicPr>
          <p:cNvPr id="19" name="Picture 18" descr="W0011_P001_L001.png"/>
          <p:cNvPicPr>
            <a:picLocks noChangeAspect="1"/>
          </p:cNvPicPr>
          <p:nvPr/>
        </p:nvPicPr>
        <p:blipFill>
          <a:blip r:embed="rId5"/>
          <a:stretch>
            <a:fillRect/>
          </a:stretch>
        </p:blipFill>
        <p:spPr>
          <a:xfrm>
            <a:off x="8046720" y="4663440"/>
            <a:ext cx="3200400" cy="229031"/>
          </a:xfrm>
          <a:prstGeom prst="rect">
            <a:avLst/>
          </a:prstGeom>
        </p:spPr>
      </p:pic>
      <p:sp>
        <p:nvSpPr>
          <p:cNvPr id="20" name="TextBox 19"/>
          <p:cNvSpPr txBox="1"/>
          <p:nvPr/>
        </p:nvSpPr>
        <p:spPr>
          <a:xfrm>
            <a:off x="8046720" y="5897880"/>
            <a:ext cx="3200400" cy="320040"/>
          </a:xfrm>
          <a:prstGeom prst="rect">
            <a:avLst/>
          </a:prstGeom>
          <a:noFill/>
        </p:spPr>
        <p:txBody>
          <a:bodyPr wrap="none">
            <a:spAutoFit/>
          </a:bodyPr>
          <a:lstStyle/>
          <a:p>
            <a:pPr algn="ctr">
              <a:defRPr sz="1000">
                <a:solidFill>
                  <a:srgbClr val="94A3B8"/>
                </a:solidFill>
              </a:defRPr>
            </a:pPr>
            <a:r>
              <a:t>Held-Out Test Line (Writer W0011)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05  TRAINING STRATEGY</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Two-Stage </a:t>
            </a:r>
            <a:r>
              <a:rPr sz="2800" b="1">
                <a:solidFill>
                  <a:srgbClr val="38BDF8"/>
                </a:solidFill>
              </a:rPr>
              <a:t>Curriculum Strategy</a:t>
            </a:r>
          </a:p>
          <a:p>
            <a:pPr>
              <a:spcBef>
                <a:spcPts val="300"/>
              </a:spcBef>
              <a:defRPr sz="1200">
                <a:solidFill>
                  <a:srgbClr val="94A3B8"/>
                </a:solidFill>
              </a:defRPr>
            </a:pPr>
            <a:r>
              <a:t>Pre-train on 10,000 synthetic samples to prevent CTC blank collapse, then fine-tune on real ink.</a:t>
            </a:r>
          </a:p>
        </p:txBody>
      </p:sp>
      <p:sp>
        <p:nvSpPr>
          <p:cNvPr id="5" name="Rounded Rectangle 4"/>
          <p:cNvSpPr/>
          <p:nvPr/>
        </p:nvSpPr>
        <p:spPr>
          <a:xfrm>
            <a:off x="731520" y="1737360"/>
            <a:ext cx="5212080" cy="32004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846320" cy="2926080"/>
          </a:xfrm>
          <a:prstGeom prst="rect">
            <a:avLst/>
          </a:prstGeom>
          <a:noFill/>
        </p:spPr>
        <p:txBody>
          <a:bodyPr wrap="square">
            <a:spAutoFit/>
          </a:bodyPr>
          <a:lstStyle/>
          <a:p>
            <a:pPr>
              <a:defRPr sz="1500" b="1">
                <a:solidFill>
                  <a:srgbClr val="38BDF8"/>
                </a:solidFill>
              </a:defRPr>
            </a:pPr>
            <a:r>
              <a:t>Stage 1: Synthetic Pre-training</a:t>
            </a:r>
          </a:p>
          <a:p>
            <a:pPr>
              <a:spcBef>
                <a:spcPts val="400"/>
              </a:spcBef>
              <a:defRPr sz="2200" b="1">
                <a:solidFill>
                  <a:srgbClr val="FFFFFF"/>
                </a:solidFill>
              </a:defRPr>
            </a:pPr>
            <a:r>
              <a:t>10,000 Synthetic Samples</a:t>
            </a:r>
          </a:p>
          <a:p>
            <a:pPr>
              <a:spcBef>
                <a:spcPts val="800"/>
              </a:spcBef>
              <a:defRPr sz="1050">
                <a:solidFill>
                  <a:srgbClr val="E2E8F0"/>
                </a:solidFill>
              </a:defRPr>
            </a:pPr>
            <a:r>
              <a:t>● HarfBuzz OpenType font shaping across 8 distinct Khmer fonts.</a:t>
            </a:r>
            <a:br/>
            <a:r>
              <a:t>● Complete coverage of all 86 Unicode characters &amp; stacked ligatures.</a:t>
            </a:r>
            <a:br/>
            <a:r>
              <a:t>● Cold-Start Solution: Prevents CTC loss from collapsing into blanks.</a:t>
            </a:r>
            <a:br/>
            <a:r>
              <a:t>● Achieved &gt;98% Character Accuracy on synthetic validation.</a:t>
            </a:r>
          </a:p>
        </p:txBody>
      </p:sp>
      <p:sp>
        <p:nvSpPr>
          <p:cNvPr id="7" name="Rounded Rectangle 6"/>
          <p:cNvSpPr/>
          <p:nvPr/>
        </p:nvSpPr>
        <p:spPr>
          <a:xfrm>
            <a:off x="6217920" y="1737360"/>
            <a:ext cx="5242255" cy="320040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74519"/>
            <a:ext cx="4846320" cy="2926080"/>
          </a:xfrm>
          <a:prstGeom prst="rect">
            <a:avLst/>
          </a:prstGeom>
          <a:noFill/>
        </p:spPr>
        <p:txBody>
          <a:bodyPr wrap="square">
            <a:spAutoFit/>
          </a:bodyPr>
          <a:lstStyle/>
          <a:p>
            <a:pPr>
              <a:defRPr sz="1500" b="1">
                <a:solidFill>
                  <a:srgbClr val="22C55E"/>
                </a:solidFill>
              </a:defRPr>
            </a:pPr>
            <a:r>
              <a:t>Stage 2: Real Handwriting Fine-Tuning</a:t>
            </a:r>
          </a:p>
          <a:p>
            <a:pPr>
              <a:spcBef>
                <a:spcPts val="400"/>
              </a:spcBef>
              <a:defRPr sz="2200" b="1">
                <a:solidFill>
                  <a:srgbClr val="FFFFFF"/>
                </a:solidFill>
              </a:defRPr>
            </a:pPr>
            <a:r>
              <a:t>177 Real Lines + 3,000 Crop Mix</a:t>
            </a:r>
          </a:p>
          <a:p>
            <a:pPr>
              <a:spcBef>
                <a:spcPts val="800"/>
              </a:spcBef>
              <a:defRPr sz="1050">
                <a:solidFill>
                  <a:srgbClr val="E2E8F0"/>
                </a:solidFill>
              </a:defRPr>
            </a:pPr>
            <a:r>
              <a:t>● Multi-scale Elastic &amp; Perspective Distortions simulate natural writing.</a:t>
            </a:r>
            <a:br/>
            <a:r>
              <a:t>● 8x Real Ink Oversampling ensures real strokes drive ~40% of every epoch.</a:t>
            </a:r>
            <a:br/>
            <a:r>
              <a:t>● Synthetic Anchor Mixing (3,000 samples) prevents catastrophic forgetting.</a:t>
            </a:r>
            <a:br/>
            <a:r>
              <a:t>● Cosine Annealing with 3 Warmup Epochs + EMA (decay=0.999).</a:t>
            </a:r>
          </a:p>
        </p:txBody>
      </p:sp>
      <p:sp>
        <p:nvSpPr>
          <p:cNvPr id="9" name="Rounded Rectangle 8"/>
          <p:cNvSpPr/>
          <p:nvPr/>
        </p:nvSpPr>
        <p:spPr>
          <a:xfrm>
            <a:off x="731520" y="5120640"/>
            <a:ext cx="10728655" cy="12801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212080"/>
            <a:ext cx="10332720" cy="1097280"/>
          </a:xfrm>
          <a:prstGeom prst="rect">
            <a:avLst/>
          </a:prstGeom>
          <a:noFill/>
        </p:spPr>
        <p:txBody>
          <a:bodyPr wrap="square">
            <a:spAutoFit/>
          </a:bodyPr>
          <a:lstStyle/>
          <a:p>
            <a:pPr>
              <a:defRPr sz="1300" b="1">
                <a:solidFill>
                  <a:srgbClr val="38BDF8"/>
                </a:solidFill>
              </a:defRPr>
            </a:pPr>
            <a:r>
              <a:t>🎯 Why Curriculum Training Succeeded</a:t>
            </a:r>
          </a:p>
          <a:p>
            <a:pPr>
              <a:spcBef>
                <a:spcPts val="300"/>
              </a:spcBef>
              <a:defRPr sz="1100">
                <a:solidFill>
                  <a:srgbClr val="E2E8F0"/>
                </a:solidFill>
              </a:defRPr>
            </a:pPr>
            <a:r>
              <a:t>Training directly on 177 real lines from scratch yielded 0.14 train loss but 1.42 val loss (severe memorization). Pre-training on HarfBuzz synthetic fonts established robust character alignment first, allowing fine-tuning to focus purely on stroke adaptation.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06  APPROACH 1</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Baseline CRNN </a:t>
            </a:r>
            <a:r>
              <a:rPr sz="2800" b="1">
                <a:solidFill>
                  <a:srgbClr val="38BDF8"/>
                </a:solidFill>
              </a:rPr>
              <a:t>(VGG + BiLSTM + CTC)</a:t>
            </a:r>
          </a:p>
          <a:p>
            <a:pPr>
              <a:spcBef>
                <a:spcPts val="300"/>
              </a:spcBef>
              <a:defRPr sz="1200">
                <a:solidFill>
                  <a:srgbClr val="94A3B8"/>
                </a:solidFill>
              </a:defRPr>
            </a:pPr>
            <a:r>
              <a:t>Lightweight, sample-efficient baseline with specialized asymmetric downsampling.</a:t>
            </a:r>
          </a:p>
        </p:txBody>
      </p:sp>
      <p:sp>
        <p:nvSpPr>
          <p:cNvPr id="5" name="Rounded Rectangle 4"/>
          <p:cNvSpPr/>
          <p:nvPr/>
        </p:nvSpPr>
        <p:spPr>
          <a:xfrm>
            <a:off x="731520" y="1737360"/>
            <a:ext cx="3931920" cy="44805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20240"/>
            <a:ext cx="3566160" cy="4114800"/>
          </a:xfrm>
          <a:prstGeom prst="rect">
            <a:avLst/>
          </a:prstGeom>
          <a:noFill/>
        </p:spPr>
        <p:txBody>
          <a:bodyPr wrap="square">
            <a:spAutoFit/>
          </a:bodyPr>
          <a:lstStyle/>
          <a:p>
            <a:pPr>
              <a:defRPr sz="1400" b="1">
                <a:solidFill>
                  <a:srgbClr val="38BDF8"/>
                </a:solidFill>
              </a:defRPr>
            </a:pPr>
            <a:r>
              <a:t>CNN Feature Extractor</a:t>
            </a:r>
          </a:p>
          <a:p>
            <a:pPr>
              <a:spcBef>
                <a:spcPts val="800"/>
              </a:spcBef>
              <a:defRPr sz="1100">
                <a:solidFill>
                  <a:srgbClr val="E2E8F0"/>
                </a:solidFill>
              </a:defRPr>
            </a:pPr>
            <a:r>
              <a:t>● Custom 7-Layer VGG CNN:</a:t>
            </a:r>
            <a:br/>
            <a:r>
              <a:t>  - 64 → 128 → 256 → 512 channels</a:t>
            </a:r>
            <a:br/>
            <a:r>
              <a:t>  - BatchNorm &amp; ReLU activations</a:t>
            </a:r>
            <a:br/>
            <a:br/>
            <a:r>
              <a:t>● Asymmetric MaxPool (2, 1):</a:t>
            </a:r>
            <a:br/>
            <a:r>
              <a:t>  - Layers 3 &amp; 4 pool vertical height aggressively from 48 down to 1.</a:t>
            </a:r>
            <a:br/>
            <a:r>
              <a:t>  - Preserves horizontal width W' = W/4.</a:t>
            </a:r>
            <a:br/>
            <a:br/>
            <a:r>
              <a:t>● Eliminates vertical ambiguity, mapping subscript coengs directly into sequential feature columns.</a:t>
            </a:r>
          </a:p>
        </p:txBody>
      </p:sp>
      <p:sp>
        <p:nvSpPr>
          <p:cNvPr id="7" name="Rounded Rectangle 6"/>
          <p:cNvSpPr/>
          <p:nvPr/>
        </p:nvSpPr>
        <p:spPr>
          <a:xfrm>
            <a:off x="4846320" y="1737360"/>
            <a:ext cx="2743200" cy="448056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83480" y="1920240"/>
            <a:ext cx="2468880" cy="4114800"/>
          </a:xfrm>
          <a:prstGeom prst="rect">
            <a:avLst/>
          </a:prstGeom>
          <a:noFill/>
        </p:spPr>
        <p:txBody>
          <a:bodyPr wrap="square">
            <a:spAutoFit/>
          </a:bodyPr>
          <a:lstStyle/>
          <a:p>
            <a:pPr algn="ctr">
              <a:defRPr sz="1400" b="1">
                <a:solidFill>
                  <a:srgbClr val="38BDF8"/>
                </a:solidFill>
              </a:defRPr>
            </a:pPr>
            <a:r>
              <a:t>Model Capacity</a:t>
            </a:r>
          </a:p>
          <a:p>
            <a:pPr algn="ctr">
              <a:spcBef>
                <a:spcPts val="1200"/>
              </a:spcBef>
              <a:defRPr sz="4400" b="1">
                <a:solidFill>
                  <a:srgbClr val="FFFFFF"/>
                </a:solidFill>
              </a:defRPr>
            </a:pPr>
            <a:r>
              <a:t>8.49M</a:t>
            </a:r>
          </a:p>
          <a:p>
            <a:pPr algn="ctr">
              <a:spcBef>
                <a:spcPts val="800"/>
              </a:spcBef>
              <a:defRPr sz="1100">
                <a:solidFill>
                  <a:srgbClr val="E2E8F0"/>
                </a:solidFill>
              </a:defRPr>
            </a:pPr>
            <a:r>
              <a:t>Trainable Parameters</a:t>
            </a:r>
            <a:br/>
            <a:br/>
            <a:r>
              <a:t>2-Layer BiLSTM</a:t>
            </a:r>
            <a:br/>
            <a:r>
              <a:t>(Hidden Size: 256, Dropout: 0.2)</a:t>
            </a:r>
            <a:br/>
            <a:br/>
            <a:r>
              <a:t>Linear CTC Head (87 Classes)</a:t>
            </a:r>
          </a:p>
        </p:txBody>
      </p:sp>
      <p:sp>
        <p:nvSpPr>
          <p:cNvPr id="9" name="Rounded Rectangle 8"/>
          <p:cNvSpPr/>
          <p:nvPr/>
        </p:nvSpPr>
        <p:spPr>
          <a:xfrm>
            <a:off x="7772400" y="1737360"/>
            <a:ext cx="3687775" cy="44805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920240"/>
            <a:ext cx="3291840" cy="4114800"/>
          </a:xfrm>
          <a:prstGeom prst="rect">
            <a:avLst/>
          </a:prstGeom>
          <a:noFill/>
        </p:spPr>
        <p:txBody>
          <a:bodyPr wrap="square">
            <a:spAutoFit/>
          </a:bodyPr>
          <a:lstStyle/>
          <a:p>
            <a:pPr>
              <a:defRPr sz="1400" b="1">
                <a:solidFill>
                  <a:srgbClr val="22C55E"/>
                </a:solidFill>
              </a:defRPr>
            </a:pPr>
            <a:r>
              <a:t>Why A1 Won 1st Place</a:t>
            </a:r>
          </a:p>
          <a:p>
            <a:pPr>
              <a:spcBef>
                <a:spcPts val="800"/>
              </a:spcBef>
              <a:defRPr sz="1100">
                <a:solidFill>
                  <a:srgbClr val="E2E8F0"/>
                </a:solidFill>
              </a:defRPr>
            </a:pPr>
            <a:r>
              <a:t>✓ Innate Recurrence Inductive Bias:</a:t>
            </a:r>
            <a:br/>
            <a:r>
              <a:t>  BiLSTM naturally processes text strictly left-to-right, matching human handwriting order.</a:t>
            </a:r>
            <a:br/>
            <a:br/>
            <a:r>
              <a:t>✓ High Sample Efficiency:</a:t>
            </a:r>
            <a:br/>
            <a:r>
              <a:t>  Compact parameter footprint avoids overfitting on small real datasets.</a:t>
            </a:r>
            <a:br/>
            <a:br/>
            <a:r>
              <a:t>✓ Zero Domain Mismatch:</a:t>
            </a:r>
            <a:br/>
            <a:r>
              <a:t>  All 8.49M parameters were trained specifically on Khmer glyphs, not natural photos.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07  APPROACH 2</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ResNet-18 </a:t>
            </a:r>
            <a:r>
              <a:rPr sz="2800" b="1">
                <a:solidFill>
                  <a:srgbClr val="38BDF8"/>
                </a:solidFill>
              </a:rPr>
              <a:t>Transfer Learning</a:t>
            </a:r>
          </a:p>
          <a:p>
            <a:pPr>
              <a:spcBef>
                <a:spcPts val="300"/>
              </a:spcBef>
              <a:defRPr sz="1200">
                <a:solidFill>
                  <a:srgbClr val="94A3B8"/>
                </a:solidFill>
              </a:defRPr>
            </a:pPr>
            <a:r>
              <a:t>Evaluating pre-trained ImageNet representations with differential learning rates.</a:t>
            </a:r>
          </a:p>
        </p:txBody>
      </p:sp>
      <p:sp>
        <p:nvSpPr>
          <p:cNvPr id="5" name="Rounded Rectangle 4"/>
          <p:cNvSpPr/>
          <p:nvPr/>
        </p:nvSpPr>
        <p:spPr>
          <a:xfrm>
            <a:off x="731520" y="1737360"/>
            <a:ext cx="3931920" cy="44805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20240"/>
            <a:ext cx="3566160" cy="4114800"/>
          </a:xfrm>
          <a:prstGeom prst="rect">
            <a:avLst/>
          </a:prstGeom>
          <a:noFill/>
        </p:spPr>
        <p:txBody>
          <a:bodyPr wrap="square">
            <a:spAutoFit/>
          </a:bodyPr>
          <a:lstStyle/>
          <a:p>
            <a:pPr>
              <a:defRPr sz="1400" b="1">
                <a:solidFill>
                  <a:srgbClr val="38BDF8"/>
                </a:solidFill>
              </a:defRPr>
            </a:pPr>
            <a:r>
              <a:t>Architecture Adaptation</a:t>
            </a:r>
          </a:p>
          <a:p>
            <a:pPr>
              <a:spcBef>
                <a:spcPts val="800"/>
              </a:spcBef>
              <a:defRPr sz="1100">
                <a:solidFill>
                  <a:srgbClr val="E2E8F0"/>
                </a:solidFill>
              </a:defRPr>
            </a:pPr>
            <a:r>
              <a:t>● Pre-trained ResNet-18:</a:t>
            </a:r>
            <a:br/>
            <a:r>
              <a:t>  - Initialized with ImageNet-1K weights.</a:t>
            </a:r>
            <a:br/>
            <a:r>
              <a:t>  - Input grayscale replicated to 3 channels.</a:t>
            </a:r>
            <a:br/>
            <a:br/>
            <a:r>
              <a:t>● Resolution Modifications:</a:t>
            </a:r>
            <a:br/>
            <a:r>
              <a:t>  - Early Conv1 and MaxPool horizontal strides changed from 2 to 1.</a:t>
            </a:r>
            <a:br/>
            <a:r>
              <a:t>  - Asymmetric bridge convolution (3, 1) flattens height to 1.</a:t>
            </a:r>
            <a:br/>
            <a:br/>
            <a:r>
              <a:t>● Constant Sequence Head:</a:t>
            </a:r>
            <a:br/>
            <a:r>
              <a:t>  - Same 2-layer BiLSTM &amp; CTC head as A1 to isolate the CNN backbone variable.</a:t>
            </a:r>
          </a:p>
        </p:txBody>
      </p:sp>
      <p:sp>
        <p:nvSpPr>
          <p:cNvPr id="7" name="Rounded Rectangle 6"/>
          <p:cNvSpPr/>
          <p:nvPr/>
        </p:nvSpPr>
        <p:spPr>
          <a:xfrm>
            <a:off x="4846320" y="1737360"/>
            <a:ext cx="2743200" cy="44805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83480" y="1920240"/>
            <a:ext cx="2468880" cy="4114800"/>
          </a:xfrm>
          <a:prstGeom prst="rect">
            <a:avLst/>
          </a:prstGeom>
          <a:noFill/>
        </p:spPr>
        <p:txBody>
          <a:bodyPr wrap="square">
            <a:spAutoFit/>
          </a:bodyPr>
          <a:lstStyle/>
          <a:p>
            <a:pPr algn="ctr">
              <a:defRPr sz="1400" b="1">
                <a:solidFill>
                  <a:srgbClr val="38BDF8"/>
                </a:solidFill>
              </a:defRPr>
            </a:pPr>
            <a:r>
              <a:t>Model Capacity</a:t>
            </a:r>
          </a:p>
          <a:p>
            <a:pPr algn="ctr">
              <a:spcBef>
                <a:spcPts val="1200"/>
              </a:spcBef>
              <a:defRPr sz="4400" b="1">
                <a:solidFill>
                  <a:srgbClr val="FFFFFF"/>
                </a:solidFill>
              </a:defRPr>
            </a:pPr>
            <a:r>
              <a:t>30.95M</a:t>
            </a:r>
          </a:p>
          <a:p>
            <a:pPr algn="ctr">
              <a:spcBef>
                <a:spcPts val="800"/>
              </a:spcBef>
              <a:defRPr sz="1100">
                <a:solidFill>
                  <a:srgbClr val="E2E8F0"/>
                </a:solidFill>
              </a:defRPr>
            </a:pPr>
            <a:r>
              <a:t>Trainable Parameters</a:t>
            </a:r>
            <a:br/>
            <a:br/>
            <a:r>
              <a:t>(3.6x larger than A1)</a:t>
            </a:r>
            <a:br/>
            <a:br/>
            <a:r>
              <a:t>High capacity creates vulnerability to small-sample overfitting.</a:t>
            </a:r>
          </a:p>
        </p:txBody>
      </p:sp>
      <p:sp>
        <p:nvSpPr>
          <p:cNvPr id="9" name="Rounded Rectangle 8"/>
          <p:cNvSpPr/>
          <p:nvPr/>
        </p:nvSpPr>
        <p:spPr>
          <a:xfrm>
            <a:off x="7772400" y="1737360"/>
            <a:ext cx="3687775" cy="44805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920240"/>
            <a:ext cx="3291840" cy="4114800"/>
          </a:xfrm>
          <a:prstGeom prst="rect">
            <a:avLst/>
          </a:prstGeom>
          <a:noFill/>
        </p:spPr>
        <p:txBody>
          <a:bodyPr wrap="square">
            <a:spAutoFit/>
          </a:bodyPr>
          <a:lstStyle/>
          <a:p>
            <a:pPr>
              <a:defRPr sz="1400" b="1">
                <a:solidFill>
                  <a:srgbClr val="38BDF8"/>
                </a:solidFill>
              </a:defRPr>
            </a:pPr>
            <a:r>
              <a:t>Training Strategy &amp; Insights</a:t>
            </a:r>
          </a:p>
          <a:p>
            <a:pPr>
              <a:spcBef>
                <a:spcPts val="800"/>
              </a:spcBef>
              <a:defRPr sz="1100">
                <a:solidFill>
                  <a:srgbClr val="E2E8F0"/>
                </a:solidFill>
              </a:defRPr>
            </a:pPr>
            <a:r>
              <a:t>● Differential Learning Rates:</a:t>
            </a:r>
            <a:br/>
            <a:r>
              <a:t>  - Backbone LR multiplier: 0.25x</a:t>
            </a:r>
            <a:br/>
            <a:r>
              <a:t>  - Head LR multiplier: 1.0x</a:t>
            </a:r>
            <a:br/>
            <a:r>
              <a:t>  - 3-Epoch initial backbone freeze.</a:t>
            </a:r>
            <a:br/>
            <a:br/>
            <a:r>
              <a:t>● Why It Ranked 3rd (25.78% CER):</a:t>
            </a:r>
            <a:br/>
            <a:r>
              <a:t>  - Domain Mismatch: ImageNet filters model natural 3D textures, not 1-channel binary ink strokes.</a:t>
            </a:r>
            <a:br/>
            <a:r>
              <a:t>  - Parameter Bloat: 31M parameters overfitted the 177 real training 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08  APPROACH 3</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Transformer </a:t>
            </a:r>
            <a:r>
              <a:rPr sz="2800" b="1">
                <a:solidFill>
                  <a:srgbClr val="38BDF8"/>
                </a:solidFill>
              </a:rPr>
              <a:t>Sequence Encoder</a:t>
            </a:r>
          </a:p>
          <a:p>
            <a:pPr>
              <a:spcBef>
                <a:spcPts val="300"/>
              </a:spcBef>
              <a:defRPr sz="1200">
                <a:solidFill>
                  <a:srgbClr val="94A3B8"/>
                </a:solidFill>
              </a:defRPr>
            </a:pPr>
            <a:r>
              <a:t>Evaluating multi-head self-attention against recurrent sequence modeling.</a:t>
            </a:r>
          </a:p>
        </p:txBody>
      </p:sp>
      <p:sp>
        <p:nvSpPr>
          <p:cNvPr id="5" name="Rounded Rectangle 4"/>
          <p:cNvSpPr/>
          <p:nvPr/>
        </p:nvSpPr>
        <p:spPr>
          <a:xfrm>
            <a:off x="731520" y="1737360"/>
            <a:ext cx="5303520" cy="466344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ilstm_vs_transformer.jpg"/>
          <p:cNvPicPr>
            <a:picLocks noChangeAspect="1"/>
          </p:cNvPicPr>
          <p:nvPr/>
        </p:nvPicPr>
        <p:blipFill>
          <a:blip r:embed="rId3"/>
          <a:stretch>
            <a:fillRect/>
          </a:stretch>
        </p:blipFill>
        <p:spPr>
          <a:xfrm>
            <a:off x="822960" y="1828800"/>
            <a:ext cx="5120640" cy="2858032"/>
          </a:xfrm>
          <a:prstGeom prst="rect">
            <a:avLst/>
          </a:prstGeom>
        </p:spPr>
      </p:pic>
      <p:sp>
        <p:nvSpPr>
          <p:cNvPr id="7" name="Rounded Rectangle 6"/>
          <p:cNvSpPr/>
          <p:nvPr/>
        </p:nvSpPr>
        <p:spPr>
          <a:xfrm>
            <a:off x="6309360" y="17373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47088"/>
            <a:ext cx="4754880" cy="1188720"/>
          </a:xfrm>
          <a:prstGeom prst="rect">
            <a:avLst/>
          </a:prstGeom>
          <a:noFill/>
        </p:spPr>
        <p:txBody>
          <a:bodyPr wrap="square">
            <a:spAutoFit/>
          </a:bodyPr>
          <a:lstStyle/>
          <a:p>
            <a:pPr>
              <a:defRPr sz="1300" b="1">
                <a:solidFill>
                  <a:srgbClr val="38BDF8"/>
                </a:solidFill>
              </a:defRPr>
            </a:pPr>
            <a:r>
              <a:t>Architecture Specifications</a:t>
            </a:r>
          </a:p>
          <a:p>
            <a:pPr>
              <a:spcBef>
                <a:spcPts val="300"/>
              </a:spcBef>
              <a:defRPr sz="1050">
                <a:solidFill>
                  <a:srgbClr val="E2E8F0"/>
                </a:solidFill>
              </a:defRPr>
            </a:pPr>
            <a:r>
              <a:t>● CNN Backbone: Identical VGG to A1 (held constant).</a:t>
            </a:r>
            <a:br/>
            <a:r>
              <a:t>● 1D Sinusoidal Positional Encodings inject token order.</a:t>
            </a:r>
            <a:br/>
            <a:r>
              <a:t>● 4-Layer Transformer Encoder with 8 Multi-Head Attention heads.</a:t>
            </a:r>
            <a:br/>
            <a:r>
              <a:t>● Total Parameters: 9.54 Million.</a:t>
            </a:r>
          </a:p>
        </p:txBody>
      </p:sp>
      <p:sp>
        <p:nvSpPr>
          <p:cNvPr id="9" name="Rounded Rectangle 8"/>
          <p:cNvSpPr/>
          <p:nvPr/>
        </p:nvSpPr>
        <p:spPr>
          <a:xfrm>
            <a:off x="6309360" y="33375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3447288"/>
            <a:ext cx="4754880" cy="1188720"/>
          </a:xfrm>
          <a:prstGeom prst="rect">
            <a:avLst/>
          </a:prstGeom>
          <a:noFill/>
        </p:spPr>
        <p:txBody>
          <a:bodyPr wrap="square">
            <a:spAutoFit/>
          </a:bodyPr>
          <a:lstStyle/>
          <a:p>
            <a:pPr>
              <a:defRPr sz="1300" b="1">
                <a:solidFill>
                  <a:srgbClr val="38BDF8"/>
                </a:solidFill>
              </a:defRPr>
            </a:pPr>
            <a:r>
              <a:t>Theoretical Advantage: Global Context</a:t>
            </a:r>
          </a:p>
          <a:p>
            <a:pPr>
              <a:spcBef>
                <a:spcPts val="300"/>
              </a:spcBef>
              <a:defRPr sz="1050">
                <a:solidFill>
                  <a:srgbClr val="E2E8F0"/>
                </a:solidFill>
              </a:defRPr>
            </a:pPr>
            <a:r>
              <a:t>● Computes all-to-all token attention in O(1) sequential steps.</a:t>
            </a:r>
            <a:br/>
            <a:r>
              <a:t>● Direct long-range receptive field across wide line crops.</a:t>
            </a:r>
            <a:br/>
            <a:r>
              <a:t>● Highly parallelizable training on GPU hardware.</a:t>
            </a:r>
          </a:p>
        </p:txBody>
      </p:sp>
      <p:sp>
        <p:nvSpPr>
          <p:cNvPr id="11" name="Rounded Rectangle 10"/>
          <p:cNvSpPr/>
          <p:nvPr/>
        </p:nvSpPr>
        <p:spPr>
          <a:xfrm>
            <a:off x="6309360" y="4937760"/>
            <a:ext cx="5150815" cy="1417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5047488"/>
            <a:ext cx="4754880" cy="1188720"/>
          </a:xfrm>
          <a:prstGeom prst="rect">
            <a:avLst/>
          </a:prstGeom>
          <a:noFill/>
        </p:spPr>
        <p:txBody>
          <a:bodyPr wrap="square">
            <a:spAutoFit/>
          </a:bodyPr>
          <a:lstStyle/>
          <a:p>
            <a:pPr>
              <a:defRPr sz="1300" b="1">
                <a:solidFill>
                  <a:srgbClr val="38BDF8"/>
                </a:solidFill>
              </a:defRPr>
            </a:pPr>
            <a:r>
              <a:t>Why BiLSTM Won on Real Handwriting</a:t>
            </a:r>
          </a:p>
          <a:p>
            <a:pPr>
              <a:spcBef>
                <a:spcPts val="300"/>
              </a:spcBef>
              <a:defRPr sz="1050">
                <a:solidFill>
                  <a:srgbClr val="E2E8F0"/>
                </a:solidFill>
              </a:defRPr>
            </a:pPr>
            <a:r>
              <a:t>● Inductive Bias Trade-Off: Transformers lack sequential continuity assumptions.</a:t>
            </a:r>
            <a:br/>
            <a:r>
              <a:t>● Sample Hunger: Transformers require vast datasets to learn sequence order.</a:t>
            </a:r>
            <a:br/>
            <a:r>
              <a:t>● On 177 real lines, BiLSTM's localized recurrence was more sample-efficient.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09  RESULTS &amp; BENCHMARK</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Empirical </a:t>
            </a:r>
            <a:r>
              <a:rPr sz="2800" b="1">
                <a:solidFill>
                  <a:srgbClr val="38BDF8"/>
                </a:solidFill>
              </a:rPr>
              <a:t>Performance Evaluation</a:t>
            </a:r>
          </a:p>
          <a:p>
            <a:pPr>
              <a:spcBef>
                <a:spcPts val="300"/>
              </a:spcBef>
              <a:defRPr sz="1200">
                <a:solidFill>
                  <a:srgbClr val="94A3B8"/>
                </a:solidFill>
              </a:defRPr>
            </a:pPr>
            <a:r>
              <a:t>Evaluated on held-out test writers (W007, W0011) under strict writer-disjoint isolation.</a:t>
            </a:r>
          </a:p>
        </p:txBody>
      </p:sp>
      <p:sp>
        <p:nvSpPr>
          <p:cNvPr id="5" name="Rounded Rectangle 4"/>
          <p:cNvSpPr/>
          <p:nvPr/>
        </p:nvSpPr>
        <p:spPr>
          <a:xfrm>
            <a:off x="731520" y="1737360"/>
            <a:ext cx="3474720" cy="1371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3200400" cy="1188720"/>
          </a:xfrm>
          <a:prstGeom prst="rect">
            <a:avLst/>
          </a:prstGeom>
          <a:noFill/>
        </p:spPr>
        <p:txBody>
          <a:bodyPr wrap="square">
            <a:spAutoFit/>
          </a:bodyPr>
          <a:lstStyle/>
          <a:p>
            <a:pPr>
              <a:defRPr sz="1100" b="1">
                <a:solidFill>
                  <a:srgbClr val="94A3B8"/>
                </a:solidFill>
              </a:defRPr>
            </a:pPr>
            <a:r>
              <a:t>Character Accuracy (A1 Winner)</a:t>
            </a:r>
          </a:p>
          <a:p>
            <a:pPr>
              <a:spcBef>
                <a:spcPts val="200"/>
              </a:spcBef>
              <a:defRPr sz="2800" b="1">
                <a:solidFill>
                  <a:srgbClr val="22C55E"/>
                </a:solidFill>
              </a:defRPr>
            </a:pPr>
            <a:r>
              <a:t>79.94%</a:t>
            </a:r>
          </a:p>
          <a:p>
            <a:pPr>
              <a:defRPr sz="1000">
                <a:solidFill>
                  <a:srgbClr val="E2E8F0"/>
                </a:solidFill>
              </a:defRPr>
            </a:pPr>
            <a:r>
              <a:t>(~80% Accuracy on unseen writers)</a:t>
            </a:r>
          </a:p>
        </p:txBody>
      </p:sp>
      <p:sp>
        <p:nvSpPr>
          <p:cNvPr id="7" name="Rounded Rectangle 6"/>
          <p:cNvSpPr/>
          <p:nvPr/>
        </p:nvSpPr>
        <p:spPr>
          <a:xfrm>
            <a:off x="4343400" y="1737360"/>
            <a:ext cx="3474720" cy="1371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1188720"/>
          </a:xfrm>
          <a:prstGeom prst="rect">
            <a:avLst/>
          </a:prstGeom>
          <a:noFill/>
        </p:spPr>
        <p:txBody>
          <a:bodyPr wrap="square">
            <a:spAutoFit/>
          </a:bodyPr>
          <a:lstStyle/>
          <a:p>
            <a:pPr>
              <a:defRPr sz="1100" b="1">
                <a:solidFill>
                  <a:srgbClr val="94A3B8"/>
                </a:solidFill>
              </a:defRPr>
            </a:pPr>
            <a:r>
              <a:t>Word-Level Accuracy (A1 Winner)</a:t>
            </a:r>
          </a:p>
          <a:p>
            <a:pPr>
              <a:spcBef>
                <a:spcPts val="200"/>
              </a:spcBef>
              <a:defRPr sz="2800" b="1">
                <a:solidFill>
                  <a:srgbClr val="38BDF8"/>
                </a:solidFill>
              </a:defRPr>
            </a:pPr>
            <a:r>
              <a:t>25.85%</a:t>
            </a:r>
          </a:p>
          <a:p>
            <a:pPr>
              <a:defRPr sz="1000">
                <a:solidFill>
                  <a:srgbClr val="E2E8F0"/>
                </a:solidFill>
              </a:defRPr>
            </a:pPr>
            <a:r>
              <a:t>(Word F1 Score: 27.54%)</a:t>
            </a:r>
          </a:p>
        </p:txBody>
      </p:sp>
      <p:sp>
        <p:nvSpPr>
          <p:cNvPr id="9" name="Rounded Rectangle 8"/>
          <p:cNvSpPr/>
          <p:nvPr/>
        </p:nvSpPr>
        <p:spPr>
          <a:xfrm>
            <a:off x="7955280" y="1737360"/>
            <a:ext cx="3474720" cy="1371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828800"/>
            <a:ext cx="3200400" cy="1188720"/>
          </a:xfrm>
          <a:prstGeom prst="rect">
            <a:avLst/>
          </a:prstGeom>
          <a:noFill/>
        </p:spPr>
        <p:txBody>
          <a:bodyPr wrap="square">
            <a:spAutoFit/>
          </a:bodyPr>
          <a:lstStyle/>
          <a:p>
            <a:pPr>
              <a:defRPr sz="1100" b="1">
                <a:solidFill>
                  <a:srgbClr val="94A3B8"/>
                </a:solidFill>
              </a:defRPr>
            </a:pPr>
            <a:r>
              <a:t>Lowest Test CER (A1 Winner)</a:t>
            </a:r>
          </a:p>
          <a:p>
            <a:pPr>
              <a:spcBef>
                <a:spcPts val="200"/>
              </a:spcBef>
              <a:defRPr sz="2800" b="1">
                <a:solidFill>
                  <a:srgbClr val="FFFFFF"/>
                </a:solidFill>
              </a:defRPr>
            </a:pPr>
            <a:r>
              <a:t>20.06%</a:t>
            </a:r>
          </a:p>
          <a:p>
            <a:pPr>
              <a:defRPr sz="1000">
                <a:solidFill>
                  <a:srgbClr val="E2E8F0"/>
                </a:solidFill>
              </a:defRPr>
            </a:pPr>
            <a:r>
              <a:t>(80% error reduction vs baseline)</a:t>
            </a:r>
          </a:p>
        </p:txBody>
      </p:sp>
      <p:graphicFrame>
        <p:nvGraphicFramePr>
          <p:cNvPr id="11" name="Table 10"/>
          <p:cNvGraphicFramePr>
            <a:graphicFrameLocks noGrp="1"/>
          </p:cNvGraphicFramePr>
          <p:nvPr/>
        </p:nvGraphicFramePr>
        <p:xfrm>
          <a:off x="731520" y="3291840"/>
          <a:ext cx="10728655" cy="1828800"/>
        </p:xfrm>
        <a:graphic>
          <a:graphicData uri="http://schemas.openxmlformats.org/drawingml/2006/table">
            <a:tbl>
              <a:tblPr firstRow="1" bandRow="1">
                <a:tableStyleId>{5C22544A-7EE6-4342-B048-85BDC9FD1C3A}</a:tableStyleId>
              </a:tblPr>
              <a:tblGrid>
                <a:gridCol w="731520"/>
                <a:gridCol w="3108960"/>
                <a:gridCol w="1188720"/>
                <a:gridCol w="1371600"/>
                <a:gridCol w="1371600"/>
                <a:gridCol w="1371600"/>
                <a:gridCol w="1584655"/>
              </a:tblGrid>
              <a:tr h="457200">
                <a:tc>
                  <a:txBody>
                    <a:bodyPr/>
                    <a:lstStyle/>
                    <a:p>
                      <a:pPr>
                        <a:defRPr sz="1000" b="1">
                          <a:solidFill>
                            <a:srgbClr val="FFFFFF"/>
                          </a:solidFill>
                        </a:defRPr>
                      </a:pPr>
                      <a:r>
                        <a:t>Rank</a:t>
                      </a:r>
                    </a:p>
                  </a:txBody>
                  <a:tcPr>
                    <a:solidFill>
                      <a:srgbClr val="1D4ED8"/>
                    </a:solidFill>
                  </a:tcPr>
                </a:tc>
                <a:tc>
                  <a:txBody>
                    <a:bodyPr/>
                    <a:lstStyle/>
                    <a:p>
                      <a:pPr>
                        <a:defRPr sz="1000" b="1">
                          <a:solidFill>
                            <a:srgbClr val="FFFFFF"/>
                          </a:solidFill>
                        </a:defRPr>
                      </a:pPr>
                      <a:r>
                        <a:t>Model Architecture</a:t>
                      </a:r>
                    </a:p>
                  </a:txBody>
                  <a:tcPr>
                    <a:solidFill>
                      <a:srgbClr val="1D4ED8"/>
                    </a:solidFill>
                  </a:tcPr>
                </a:tc>
                <a:tc>
                  <a:txBody>
                    <a:bodyPr/>
                    <a:lstStyle/>
                    <a:p>
                      <a:pPr>
                        <a:defRPr sz="1000" b="1">
                          <a:solidFill>
                            <a:srgbClr val="FFFFFF"/>
                          </a:solidFill>
                        </a:defRPr>
                      </a:pPr>
                      <a:r>
                        <a:t>Params</a:t>
                      </a:r>
                    </a:p>
                  </a:txBody>
                  <a:tcPr>
                    <a:solidFill>
                      <a:srgbClr val="1D4ED8"/>
                    </a:solidFill>
                  </a:tcPr>
                </a:tc>
                <a:tc>
                  <a:txBody>
                    <a:bodyPr/>
                    <a:lstStyle/>
                    <a:p>
                      <a:pPr>
                        <a:defRPr sz="1000" b="1">
                          <a:solidFill>
                            <a:srgbClr val="FFFFFF"/>
                          </a:solidFill>
                        </a:defRPr>
                      </a:pPr>
                      <a:r>
                        <a:t>Test CER ↓</a:t>
                      </a:r>
                    </a:p>
                  </a:txBody>
                  <a:tcPr>
                    <a:solidFill>
                      <a:srgbClr val="1D4ED8"/>
                    </a:solidFill>
                  </a:tcPr>
                </a:tc>
                <a:tc>
                  <a:txBody>
                    <a:bodyPr/>
                    <a:lstStyle/>
                    <a:p>
                      <a:pPr>
                        <a:defRPr sz="1000" b="1">
                          <a:solidFill>
                            <a:srgbClr val="FFFFFF"/>
                          </a:solidFill>
                        </a:defRPr>
                      </a:pPr>
                      <a:r>
                        <a:t>CharAcc ↑</a:t>
                      </a:r>
                    </a:p>
                  </a:txBody>
                  <a:tcPr>
                    <a:solidFill>
                      <a:srgbClr val="1D4ED8"/>
                    </a:solidFill>
                  </a:tcPr>
                </a:tc>
                <a:tc>
                  <a:txBody>
                    <a:bodyPr/>
                    <a:lstStyle/>
                    <a:p>
                      <a:pPr>
                        <a:defRPr sz="1000" b="1">
                          <a:solidFill>
                            <a:srgbClr val="FFFFFF"/>
                          </a:solidFill>
                        </a:defRPr>
                      </a:pPr>
                      <a:r>
                        <a:t>WordAcc ↑</a:t>
                      </a:r>
                    </a:p>
                  </a:txBody>
                  <a:tcPr>
                    <a:solidFill>
                      <a:srgbClr val="1D4ED8"/>
                    </a:solidFill>
                  </a:tcPr>
                </a:tc>
                <a:tc>
                  <a:txBody>
                    <a:bodyPr/>
                    <a:lstStyle/>
                    <a:p>
                      <a:pPr>
                        <a:defRPr sz="1000" b="1">
                          <a:solidFill>
                            <a:srgbClr val="FFFFFF"/>
                          </a:solidFill>
                        </a:defRPr>
                      </a:pPr>
                      <a:r>
                        <a:t>Exact Line ↑</a:t>
                      </a:r>
                    </a:p>
                  </a:txBody>
                  <a:tcPr>
                    <a:solidFill>
                      <a:srgbClr val="1D4ED8"/>
                    </a:solidFill>
                  </a:tcPr>
                </a:tc>
              </a:tr>
              <a:tr h="457200">
                <a:tc>
                  <a:txBody>
                    <a:bodyPr/>
                    <a:lstStyle/>
                    <a:p>
                      <a:pPr>
                        <a:defRPr sz="1000" b="1">
                          <a:solidFill>
                            <a:srgbClr val="38BDF8"/>
                          </a:solidFill>
                        </a:defRPr>
                      </a:pPr>
                      <a:r>
                        <a:t>🥇 1st</a:t>
                      </a:r>
                    </a:p>
                  </a:txBody>
                  <a:tcPr>
                    <a:solidFill>
                      <a:srgbClr val="102A56"/>
                    </a:solidFill>
                  </a:tcPr>
                </a:tc>
                <a:tc>
                  <a:txBody>
                    <a:bodyPr/>
                    <a:lstStyle/>
                    <a:p>
                      <a:pPr>
                        <a:defRPr sz="1000" b="1">
                          <a:solidFill>
                            <a:srgbClr val="38BDF8"/>
                          </a:solidFill>
                        </a:defRPr>
                      </a:pPr>
                      <a:r>
                        <a:t>A1: Baseline CRNN (VGG + BiLSTM)</a:t>
                      </a:r>
                    </a:p>
                  </a:txBody>
                  <a:tcPr>
                    <a:solidFill>
                      <a:srgbClr val="102A56"/>
                    </a:solidFill>
                  </a:tcPr>
                </a:tc>
                <a:tc>
                  <a:txBody>
                    <a:bodyPr/>
                    <a:lstStyle/>
                    <a:p>
                      <a:pPr>
                        <a:defRPr sz="1000" b="1">
                          <a:solidFill>
                            <a:srgbClr val="38BDF8"/>
                          </a:solidFill>
                        </a:defRPr>
                      </a:pPr>
                      <a:r>
                        <a:t>8.49 M</a:t>
                      </a:r>
                    </a:p>
                  </a:txBody>
                  <a:tcPr>
                    <a:solidFill>
                      <a:srgbClr val="102A56"/>
                    </a:solidFill>
                  </a:tcPr>
                </a:tc>
                <a:tc>
                  <a:txBody>
                    <a:bodyPr/>
                    <a:lstStyle/>
                    <a:p>
                      <a:pPr>
                        <a:defRPr sz="1000" b="1">
                          <a:solidFill>
                            <a:srgbClr val="38BDF8"/>
                          </a:solidFill>
                        </a:defRPr>
                      </a:pPr>
                      <a:r>
                        <a:t>20.06%</a:t>
                      </a:r>
                    </a:p>
                  </a:txBody>
                  <a:tcPr>
                    <a:solidFill>
                      <a:srgbClr val="102A56"/>
                    </a:solidFill>
                  </a:tcPr>
                </a:tc>
                <a:tc>
                  <a:txBody>
                    <a:bodyPr/>
                    <a:lstStyle/>
                    <a:p>
                      <a:pPr>
                        <a:defRPr sz="1000" b="1">
                          <a:solidFill>
                            <a:srgbClr val="38BDF8"/>
                          </a:solidFill>
                        </a:defRPr>
                      </a:pPr>
                      <a:r>
                        <a:t>79.94%</a:t>
                      </a:r>
                    </a:p>
                  </a:txBody>
                  <a:tcPr>
                    <a:solidFill>
                      <a:srgbClr val="102A56"/>
                    </a:solidFill>
                  </a:tcPr>
                </a:tc>
                <a:tc>
                  <a:txBody>
                    <a:bodyPr/>
                    <a:lstStyle/>
                    <a:p>
                      <a:pPr>
                        <a:defRPr sz="1000" b="1">
                          <a:solidFill>
                            <a:srgbClr val="38BDF8"/>
                          </a:solidFill>
                        </a:defRPr>
                      </a:pPr>
                      <a:r>
                        <a:t>25.85%</a:t>
                      </a:r>
                    </a:p>
                  </a:txBody>
                  <a:tcPr>
                    <a:solidFill>
                      <a:srgbClr val="102A56"/>
                    </a:solidFill>
                  </a:tcPr>
                </a:tc>
                <a:tc>
                  <a:txBody>
                    <a:bodyPr/>
                    <a:lstStyle/>
                    <a:p>
                      <a:pPr>
                        <a:defRPr sz="1000" b="1">
                          <a:solidFill>
                            <a:srgbClr val="38BDF8"/>
                          </a:solidFill>
                        </a:defRPr>
                      </a:pPr>
                      <a:r>
                        <a:t>10.00%</a:t>
                      </a:r>
                    </a:p>
                  </a:txBody>
                  <a:tcPr>
                    <a:solidFill>
                      <a:srgbClr val="102A56"/>
                    </a:solidFill>
                  </a:tcPr>
                </a:tc>
              </a:tr>
              <a:tr h="457200">
                <a:tc>
                  <a:txBody>
                    <a:bodyPr/>
                    <a:lstStyle/>
                    <a:p>
                      <a:pPr>
                        <a:defRPr sz="1000"/>
                      </a:pPr>
                      <a:r>
                        <a:t>🥈 2nd</a:t>
                      </a:r>
                    </a:p>
                  </a:txBody>
                  <a:tcPr/>
                </a:tc>
                <a:tc>
                  <a:txBody>
                    <a:bodyPr/>
                    <a:lstStyle/>
                    <a:p>
                      <a:pPr>
                        <a:defRPr sz="1000"/>
                      </a:pPr>
                      <a:r>
                        <a:t>A3: Transformer Sequence Encoder</a:t>
                      </a:r>
                    </a:p>
                  </a:txBody>
                  <a:tcPr/>
                </a:tc>
                <a:tc>
                  <a:txBody>
                    <a:bodyPr/>
                    <a:lstStyle/>
                    <a:p>
                      <a:pPr>
                        <a:defRPr sz="1000"/>
                      </a:pPr>
                      <a:r>
                        <a:t>9.54 M</a:t>
                      </a:r>
                    </a:p>
                  </a:txBody>
                  <a:tcPr/>
                </a:tc>
                <a:tc>
                  <a:txBody>
                    <a:bodyPr/>
                    <a:lstStyle/>
                    <a:p>
                      <a:pPr>
                        <a:defRPr sz="1000"/>
                      </a:pPr>
                      <a:r>
                        <a:t>22.92%</a:t>
                      </a:r>
                    </a:p>
                  </a:txBody>
                  <a:tcPr/>
                </a:tc>
                <a:tc>
                  <a:txBody>
                    <a:bodyPr/>
                    <a:lstStyle/>
                    <a:p>
                      <a:pPr>
                        <a:defRPr sz="1000"/>
                      </a:pPr>
                      <a:r>
                        <a:t>77.08%</a:t>
                      </a:r>
                    </a:p>
                  </a:txBody>
                  <a:tcPr/>
                </a:tc>
                <a:tc>
                  <a:txBody>
                    <a:bodyPr/>
                    <a:lstStyle/>
                    <a:p>
                      <a:pPr>
                        <a:defRPr sz="1000"/>
                      </a:pPr>
                      <a:r>
                        <a:t>19.73%</a:t>
                      </a:r>
                    </a:p>
                  </a:txBody>
                  <a:tcPr/>
                </a:tc>
                <a:tc>
                  <a:txBody>
                    <a:bodyPr/>
                    <a:lstStyle/>
                    <a:p>
                      <a:pPr>
                        <a:defRPr sz="1000"/>
                      </a:pPr>
                      <a:r>
                        <a:t>2.00%</a:t>
                      </a:r>
                    </a:p>
                  </a:txBody>
                  <a:tcPr/>
                </a:tc>
              </a:tr>
              <a:tr h="457200">
                <a:tc>
                  <a:txBody>
                    <a:bodyPr/>
                    <a:lstStyle/>
                    <a:p>
                      <a:pPr>
                        <a:defRPr sz="1000"/>
                      </a:pPr>
                      <a:r>
                        <a:t>🥉 3rd</a:t>
                      </a:r>
                    </a:p>
                  </a:txBody>
                  <a:tcPr/>
                </a:tc>
                <a:tc>
                  <a:txBody>
                    <a:bodyPr/>
                    <a:lstStyle/>
                    <a:p>
                      <a:pPr>
                        <a:defRPr sz="1000"/>
                      </a:pPr>
                      <a:r>
                        <a:t>A2: Transfer Learning (ResNet-18)</a:t>
                      </a:r>
                    </a:p>
                  </a:txBody>
                  <a:tcPr/>
                </a:tc>
                <a:tc>
                  <a:txBody>
                    <a:bodyPr/>
                    <a:lstStyle/>
                    <a:p>
                      <a:pPr>
                        <a:defRPr sz="1000"/>
                      </a:pPr>
                      <a:r>
                        <a:t>30.95 M</a:t>
                      </a:r>
                    </a:p>
                  </a:txBody>
                  <a:tcPr/>
                </a:tc>
                <a:tc>
                  <a:txBody>
                    <a:bodyPr/>
                    <a:lstStyle/>
                    <a:p>
                      <a:pPr>
                        <a:defRPr sz="1000"/>
                      </a:pPr>
                      <a:r>
                        <a:t>25.78%</a:t>
                      </a:r>
                    </a:p>
                  </a:txBody>
                  <a:tcPr/>
                </a:tc>
                <a:tc>
                  <a:txBody>
                    <a:bodyPr/>
                    <a:lstStyle/>
                    <a:p>
                      <a:pPr>
                        <a:defRPr sz="1000"/>
                      </a:pPr>
                      <a:r>
                        <a:t>74.22%</a:t>
                      </a:r>
                    </a:p>
                  </a:txBody>
                  <a:tcPr/>
                </a:tc>
                <a:tc>
                  <a:txBody>
                    <a:bodyPr/>
                    <a:lstStyle/>
                    <a:p>
                      <a:pPr>
                        <a:defRPr sz="1000"/>
                      </a:pPr>
                      <a:r>
                        <a:t>12.24%</a:t>
                      </a:r>
                    </a:p>
                  </a:txBody>
                  <a:tcPr/>
                </a:tc>
                <a:tc>
                  <a:txBody>
                    <a:bodyPr/>
                    <a:lstStyle/>
                    <a:p>
                      <a:pPr>
                        <a:defRPr sz="1000"/>
                      </a:pPr>
                      <a:r>
                        <a:t>0.00%</a:t>
                      </a:r>
                    </a:p>
                  </a:txBody>
                  <a:tcPr/>
                </a:tc>
              </a:tr>
            </a:tbl>
          </a:graphicData>
        </a:graphic>
      </p:graphicFrame>
      <p:sp>
        <p:nvSpPr>
          <p:cNvPr id="12" name="Rounded Rectangle 11"/>
          <p:cNvSpPr/>
          <p:nvPr/>
        </p:nvSpPr>
        <p:spPr>
          <a:xfrm>
            <a:off x="731520" y="5303520"/>
            <a:ext cx="10728655" cy="1188720"/>
          </a:xfrm>
          <a:prstGeom prst="roundRect">
            <a:avLst/>
          </a:prstGeom>
          <a:solidFill>
            <a:srgbClr val="0A1630"/>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76672"/>
            <a:ext cx="10332720" cy="1005840"/>
          </a:xfrm>
          <a:prstGeom prst="rect">
            <a:avLst/>
          </a:prstGeom>
          <a:noFill/>
        </p:spPr>
        <p:txBody>
          <a:bodyPr wrap="square">
            <a:spAutoFit/>
          </a:bodyPr>
          <a:lstStyle/>
          <a:p>
            <a:pPr>
              <a:defRPr sz="1100" b="1">
                <a:solidFill>
                  <a:srgbClr val="38BDF8"/>
                </a:solidFill>
              </a:defRPr>
            </a:pPr>
            <a:r>
              <a:t>Unseen Test Writer (W0011) Live Prediction:</a:t>
            </a:r>
          </a:p>
          <a:p>
            <a:r>
              <a:rPr sz="1100">
                <a:solidFill>
                  <a:srgbClr val="FFFFFF"/>
                </a:solidFill>
              </a:rPr>
              <a:t>Ground Truth &amp; Model Prediction:  </a:t>
            </a:r>
            <a:r>
              <a:rPr sz="1400" b="1">
                <a:solidFill>
                  <a:srgbClr val="22C55E"/>
                </a:solidFill>
              </a:rPr>
              <a:t>ព្រឹកនេះ នៅក្នុងបន្ទប់រៀនយើងមានសិស្សជាច្រើននាក់</a:t>
            </a:r>
            <a:r>
              <a:rPr sz="1100" b="1">
                <a:solidFill>
                  <a:srgbClr val="38BDF8"/>
                </a:solidFill>
              </a:rPr>
              <a:t>   [✓ 100% Exact Character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10  CONVERGENCE &amp; ACCURACY</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Visual </a:t>
            </a:r>
            <a:r>
              <a:rPr sz="2800" b="1">
                <a:solidFill>
                  <a:srgbClr val="38BDF8"/>
                </a:solidFill>
              </a:rPr>
              <a:t>Learning Dynamics</a:t>
            </a:r>
          </a:p>
          <a:p>
            <a:pPr>
              <a:spcBef>
                <a:spcPts val="300"/>
              </a:spcBef>
              <a:defRPr sz="1200">
                <a:solidFill>
                  <a:srgbClr val="94A3B8"/>
                </a:solidFill>
              </a:defRPr>
            </a:pPr>
            <a:r>
              <a:t>Validation learning curves and test accuracy comparison charts from Google Drive.</a:t>
            </a:r>
          </a:p>
        </p:txBody>
      </p:sp>
      <p:sp>
        <p:nvSpPr>
          <p:cNvPr id="5" name="Rounded Rectangle 4"/>
          <p:cNvSpPr/>
          <p:nvPr/>
        </p:nvSpPr>
        <p:spPr>
          <a:xfrm>
            <a:off x="731520" y="1737360"/>
            <a:ext cx="6217920" cy="338328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id_learning_curves.png"/>
          <p:cNvPicPr>
            <a:picLocks noChangeAspect="1"/>
          </p:cNvPicPr>
          <p:nvPr/>
        </p:nvPicPr>
        <p:blipFill>
          <a:blip r:embed="rId3"/>
          <a:stretch>
            <a:fillRect/>
          </a:stretch>
        </p:blipFill>
        <p:spPr>
          <a:xfrm>
            <a:off x="822960" y="1828800"/>
            <a:ext cx="6035040" cy="3017520"/>
          </a:xfrm>
          <a:prstGeom prst="rect">
            <a:avLst/>
          </a:prstGeom>
        </p:spPr>
      </p:pic>
      <p:sp>
        <p:nvSpPr>
          <p:cNvPr id="7" name="Rounded Rectangle 6"/>
          <p:cNvSpPr/>
          <p:nvPr/>
        </p:nvSpPr>
        <p:spPr>
          <a:xfrm>
            <a:off x="7132320" y="1737360"/>
            <a:ext cx="4327855" cy="338328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arison_chart.png"/>
          <p:cNvPicPr>
            <a:picLocks noChangeAspect="1"/>
          </p:cNvPicPr>
          <p:nvPr/>
        </p:nvPicPr>
        <p:blipFill>
          <a:blip r:embed="rId4"/>
          <a:stretch>
            <a:fillRect/>
          </a:stretch>
        </p:blipFill>
        <p:spPr>
          <a:xfrm>
            <a:off x="7223760" y="1828800"/>
            <a:ext cx="4114800" cy="1496291"/>
          </a:xfrm>
          <a:prstGeom prst="rect">
            <a:avLst/>
          </a:prstGeom>
        </p:spPr>
      </p:pic>
      <p:sp>
        <p:nvSpPr>
          <p:cNvPr id="9" name="Rounded Rectangle 8"/>
          <p:cNvSpPr/>
          <p:nvPr/>
        </p:nvSpPr>
        <p:spPr>
          <a:xfrm>
            <a:off x="731520" y="5303520"/>
            <a:ext cx="10728655" cy="11887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1005840"/>
          </a:xfrm>
          <a:prstGeom prst="rect">
            <a:avLst/>
          </a:prstGeom>
          <a:noFill/>
        </p:spPr>
        <p:txBody>
          <a:bodyPr wrap="square">
            <a:spAutoFit/>
          </a:bodyPr>
          <a:lstStyle/>
          <a:p>
            <a:pPr>
              <a:defRPr sz="1200" b="1">
                <a:solidFill>
                  <a:srgbClr val="38BDF8"/>
                </a:solidFill>
              </a:defRPr>
            </a:pPr>
            <a:r>
              <a:t>Training Stability &amp; Convergence Insights</a:t>
            </a:r>
          </a:p>
          <a:p>
            <a:pPr>
              <a:spcBef>
                <a:spcPts val="300"/>
              </a:spcBef>
              <a:defRPr sz="1050">
                <a:solidFill>
                  <a:srgbClr val="E2E8F0"/>
                </a:solidFill>
              </a:defRPr>
            </a:pPr>
            <a:r>
              <a:t>● Blue Trajectory (A1): Steepest descent and lowest validation floor (10.9% val CER), proving high sample efficiency.</a:t>
            </a:r>
            <a:br/>
            <a:r>
              <a:t>● Regularization Success: Zero validation spikes across all 65 epochs thanks to Cosine Warmup and EMA decay (0.999).</a:t>
            </a:r>
            <a:br/>
            <a:r>
              <a:t>● Error Reduction: Character Error Rate dropped from 98% (untrained) to ~20%, an 80% error reduction.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11  QUALITATIVE ANALYSIS</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Recognition Examples &amp; </a:t>
            </a:r>
            <a:r>
              <a:rPr sz="2800" b="1">
                <a:solidFill>
                  <a:srgbClr val="38BDF8"/>
                </a:solidFill>
              </a:rPr>
              <a:t>Error Modes</a:t>
            </a:r>
          </a:p>
          <a:p>
            <a:pPr>
              <a:spcBef>
                <a:spcPts val="300"/>
              </a:spcBef>
              <a:defRPr sz="1200">
                <a:solidFill>
                  <a:srgbClr val="94A3B8"/>
                </a:solidFill>
              </a:defRPr>
            </a:pPr>
            <a:r>
              <a:t>Analyzing successful transcriptions and linguistic failure cases on unseen handwriting.</a:t>
            </a:r>
          </a:p>
        </p:txBody>
      </p:sp>
      <p:sp>
        <p:nvSpPr>
          <p:cNvPr id="5" name="Rounded Rectangle 4"/>
          <p:cNvSpPr/>
          <p:nvPr/>
        </p:nvSpPr>
        <p:spPr>
          <a:xfrm>
            <a:off x="731520" y="1737360"/>
            <a:ext cx="3413455" cy="3840480"/>
          </a:xfrm>
          <a:prstGeom prst="roundRect">
            <a:avLst/>
          </a:prstGeom>
          <a:solidFill>
            <a:srgbClr val="0A1630"/>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3047695" cy="3566160"/>
          </a:xfrm>
          <a:prstGeom prst="rect">
            <a:avLst/>
          </a:prstGeom>
          <a:noFill/>
        </p:spPr>
        <p:txBody>
          <a:bodyPr wrap="square">
            <a:spAutoFit/>
          </a:bodyPr>
          <a:lstStyle/>
          <a:p>
            <a:pPr>
              <a:defRPr sz="1400" b="1">
                <a:solidFill>
                  <a:srgbClr val="22C55E"/>
                </a:solidFill>
              </a:defRPr>
            </a:pPr>
            <a:r>
              <a:t>✓ Exact Sentence Match</a:t>
            </a:r>
          </a:p>
          <a:p>
            <a:pPr>
              <a:spcBef>
                <a:spcPts val="600"/>
              </a:spcBef>
              <a:defRPr sz="1050">
                <a:solidFill>
                  <a:srgbClr val="E2E8F0"/>
                </a:solidFill>
              </a:defRPr>
            </a:pPr>
            <a:r>
              <a:t>Ground Truth:</a:t>
            </a:r>
            <a:br/>
            <a:r>
              <a:t>ព្រឹកនេះ នៅក្នុងបន្ទប់រៀនយើងមានសិស្សជាច្រើននាក់</a:t>
            </a:r>
            <a:br/>
            <a:br/>
            <a:r>
              <a:t>Prediction:</a:t>
            </a:r>
            <a:br/>
            <a:r>
              <a:t>ព្រឹកនេះ នៅក្នុងបន្ទប់រៀនយើងមានសិស្សជាច្រើននាក់</a:t>
            </a:r>
            <a:br/>
            <a:br/>
            <a:r>
              <a:t>● 100% exact match across all 58 characters.</a:t>
            </a:r>
            <a:br/>
            <a:r>
              <a:t>● Successfully recovers subscript Coeng ្រ, upper vowels ឹ, ើ, and dependent vowel ៀ without drift.</a:t>
            </a:r>
          </a:p>
        </p:txBody>
      </p:sp>
      <p:sp>
        <p:nvSpPr>
          <p:cNvPr id="7" name="Rounded Rectangle 6"/>
          <p:cNvSpPr/>
          <p:nvPr/>
        </p:nvSpPr>
        <p:spPr>
          <a:xfrm>
            <a:off x="4389120" y="1737360"/>
            <a:ext cx="3413455" cy="3840480"/>
          </a:xfrm>
          <a:prstGeom prst="roundRect">
            <a:avLst/>
          </a:prstGeom>
          <a:solidFill>
            <a:srgbClr val="0A163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874519"/>
            <a:ext cx="3047695" cy="3566160"/>
          </a:xfrm>
          <a:prstGeom prst="rect">
            <a:avLst/>
          </a:prstGeom>
          <a:noFill/>
        </p:spPr>
        <p:txBody>
          <a:bodyPr wrap="square">
            <a:spAutoFit/>
          </a:bodyPr>
          <a:lstStyle/>
          <a:p>
            <a:pPr>
              <a:defRPr sz="1400" b="1">
                <a:solidFill>
                  <a:srgbClr val="F59E0B"/>
                </a:solidFill>
              </a:defRPr>
            </a:pPr>
            <a:r>
              <a:t>⚠️ Subscript Coeng Omission</a:t>
            </a:r>
          </a:p>
          <a:p>
            <a:pPr>
              <a:spcBef>
                <a:spcPts val="600"/>
              </a:spcBef>
              <a:defRPr sz="1050">
                <a:solidFill>
                  <a:srgbClr val="E2E8F0"/>
                </a:solidFill>
              </a:defRPr>
            </a:pPr>
            <a:r>
              <a:t>Ground Truth:  ក្ប (ក + ្ + ប)</a:t>
            </a:r>
            <a:br/>
            <a:r>
              <a:t>Prediction:    ក (Subscript omitted)</a:t>
            </a:r>
            <a:br/>
            <a:br/>
            <a:r>
              <a:t>● Failure Mechanism:</a:t>
            </a:r>
            <a:br/>
            <a:r>
              <a:t>  When writers use faint ink or hurried pen strokes, subscripts lack pixel contrast.</a:t>
            </a:r>
            <a:br/>
            <a:br/>
            <a:r>
              <a:t>● Downsampling layer misses the faint stroke, collapsing it into the base consonant.</a:t>
            </a:r>
          </a:p>
        </p:txBody>
      </p:sp>
      <p:sp>
        <p:nvSpPr>
          <p:cNvPr id="9" name="Rounded Rectangle 8"/>
          <p:cNvSpPr/>
          <p:nvPr/>
        </p:nvSpPr>
        <p:spPr>
          <a:xfrm>
            <a:off x="8046720" y="1737360"/>
            <a:ext cx="3413455" cy="3840480"/>
          </a:xfrm>
          <a:prstGeom prst="roundRect">
            <a:avLst/>
          </a:prstGeom>
          <a:solidFill>
            <a:srgbClr val="0A1630"/>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74519"/>
            <a:ext cx="3047695" cy="3566160"/>
          </a:xfrm>
          <a:prstGeom prst="rect">
            <a:avLst/>
          </a:prstGeom>
          <a:noFill/>
        </p:spPr>
        <p:txBody>
          <a:bodyPr wrap="square">
            <a:spAutoFit/>
          </a:bodyPr>
          <a:lstStyle/>
          <a:p>
            <a:pPr>
              <a:defRPr sz="1400" b="1">
                <a:solidFill>
                  <a:srgbClr val="EF4444"/>
                </a:solidFill>
              </a:defRPr>
            </a:pPr>
            <a:r>
              <a:t>✗ Visual Twin Loop Collapse</a:t>
            </a:r>
          </a:p>
          <a:p>
            <a:pPr>
              <a:spcBef>
                <a:spcPts val="600"/>
              </a:spcBef>
              <a:defRPr sz="1050">
                <a:solidFill>
                  <a:srgbClr val="E2E8F0"/>
                </a:solidFill>
              </a:defRPr>
            </a:pPr>
            <a:r>
              <a:t>Ground Truth: ព  →  Prediction: យ</a:t>
            </a:r>
            <a:br/>
            <a:r>
              <a:t>Ground Truth: នោះ → Prediction: នេះ</a:t>
            </a:r>
            <a:br/>
            <a:br/>
            <a:r>
              <a:t>● Failure Mechanism:</a:t>
            </a:r>
            <a:br/>
            <a:r>
              <a:t>  Cursive loops collapse into identical oval shapes at 48px height.</a:t>
            </a:r>
            <a:br/>
            <a:br/>
            <a:r>
              <a:t>● Solution: Requires external language model for semantic disambiguation.</a:t>
            </a:r>
          </a:p>
        </p:txBody>
      </p:sp>
      <p:sp>
        <p:nvSpPr>
          <p:cNvPr id="11" name="Rounded Rectangle 10"/>
          <p:cNvSpPr/>
          <p:nvPr/>
        </p:nvSpPr>
        <p:spPr>
          <a:xfrm>
            <a:off x="731520" y="5669280"/>
            <a:ext cx="10728655" cy="82296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715000"/>
            <a:ext cx="10332720" cy="731520"/>
          </a:xfrm>
          <a:prstGeom prst="rect">
            <a:avLst/>
          </a:prstGeom>
          <a:noFill/>
        </p:spPr>
        <p:txBody>
          <a:bodyPr wrap="none">
            <a:spAutoFit/>
          </a:bodyPr>
          <a:lstStyle/>
          <a:p>
            <a:pPr>
              <a:defRPr sz="1100" b="1">
                <a:solidFill>
                  <a:srgbClr val="38BDF8"/>
                </a:solidFill>
              </a:defRPr>
            </a:pPr>
            <a:r>
              <a:t>💡 Linguistic Finding: Errors are concentrated on faint subscript strokes and cursive twin loops, not base character confusion.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12  LIVE DEMO &amp; ARTIFACTS</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Real-Time Inference </a:t>
            </a:r>
            <a:r>
              <a:rPr sz="2800" b="1">
                <a:solidFill>
                  <a:srgbClr val="38BDF8"/>
                </a:solidFill>
              </a:rPr>
              <a:t>&amp; Production Software</a:t>
            </a:r>
          </a:p>
          <a:p>
            <a:pPr>
              <a:spcBef>
                <a:spcPts val="300"/>
              </a:spcBef>
              <a:defRPr sz="1200">
                <a:solidFill>
                  <a:srgbClr val="94A3B8"/>
                </a:solidFill>
              </a:defRPr>
            </a:pPr>
            <a:r>
              <a:t>End-to-end Python CLI and production engineering pipeline.</a:t>
            </a:r>
          </a:p>
        </p:txBody>
      </p:sp>
      <p:sp>
        <p:nvSpPr>
          <p:cNvPr id="5" name="Rounded Rectangle 4"/>
          <p:cNvSpPr/>
          <p:nvPr/>
        </p:nvSpPr>
        <p:spPr>
          <a:xfrm>
            <a:off x="731520" y="1737360"/>
            <a:ext cx="6217920" cy="201168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ve_demo_output.png"/>
          <p:cNvPicPr>
            <a:picLocks noChangeAspect="1"/>
          </p:cNvPicPr>
          <p:nvPr/>
        </p:nvPicPr>
        <p:blipFill>
          <a:blip r:embed="rId3"/>
          <a:stretch>
            <a:fillRect/>
          </a:stretch>
        </p:blipFill>
        <p:spPr>
          <a:xfrm>
            <a:off x="822960" y="1828800"/>
            <a:ext cx="6035040" cy="1576654"/>
          </a:xfrm>
          <a:prstGeom prst="rect">
            <a:avLst/>
          </a:prstGeom>
        </p:spPr>
      </p:pic>
      <p:sp>
        <p:nvSpPr>
          <p:cNvPr id="7" name="Rounded Rectangle 6"/>
          <p:cNvSpPr/>
          <p:nvPr/>
        </p:nvSpPr>
        <p:spPr>
          <a:xfrm>
            <a:off x="731520" y="3931920"/>
            <a:ext cx="6217920" cy="256032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069080"/>
            <a:ext cx="5852160" cy="2286000"/>
          </a:xfrm>
          <a:prstGeom prst="rect">
            <a:avLst/>
          </a:prstGeom>
          <a:noFill/>
        </p:spPr>
        <p:txBody>
          <a:bodyPr wrap="square">
            <a:spAutoFit/>
          </a:bodyPr>
          <a:lstStyle/>
          <a:p>
            <a:pPr>
              <a:defRPr sz="1200" b="1">
                <a:solidFill>
                  <a:srgbClr val="38BDF8"/>
                </a:solidFill>
              </a:defRPr>
            </a:pPr>
            <a:r>
              <a:t>Single-Command Terminal CLI:</a:t>
            </a:r>
          </a:p>
          <a:p>
            <a:pPr>
              <a:spcBef>
                <a:spcPts val="400"/>
              </a:spcBef>
              <a:defRPr sz="1000">
                <a:solidFill>
                  <a:srgbClr val="22C55E"/>
                </a:solidFill>
                <a:latin typeface="Courier New"/>
              </a:defRPr>
            </a:pPr>
            <a:r>
              <a:t>$ python scripts/demo_predict.py \</a:t>
            </a:r>
            <a:br/>
            <a:r>
              <a:t>    --image data/handwritten_external/W0011/lines_raw/W0011_P001_L001.png \</a:t>
            </a:r>
            <a:br/>
            <a:r>
              <a:t>    --checkpoint checkpoints/a1_baseline_finetuned_best.pt \</a:t>
            </a:r>
            <a:br/>
            <a:r>
              <a:t>    --vocab-path data/metadata/char_to_idx.json \</a:t>
            </a:r>
            <a:br/>
            <a:r>
              <a:t>    --approach baseline</a:t>
            </a:r>
            <a:br/>
            <a:br/>
            <a:r>
              <a:t>✓ Output: ព្រឹកនេះ នៅក្នុងបន្ទប់រៀនយើងមានសិស្សជាច្រើននាក់</a:t>
            </a:r>
          </a:p>
        </p:txBody>
      </p:sp>
      <p:sp>
        <p:nvSpPr>
          <p:cNvPr id="9" name="Rounded Rectangle 8"/>
          <p:cNvSpPr/>
          <p:nvPr/>
        </p:nvSpPr>
        <p:spPr>
          <a:xfrm>
            <a:off x="7132320" y="1737360"/>
            <a:ext cx="4327855" cy="475488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0" y="1920240"/>
            <a:ext cx="3931920" cy="4297680"/>
          </a:xfrm>
          <a:prstGeom prst="rect">
            <a:avLst/>
          </a:prstGeom>
          <a:noFill/>
        </p:spPr>
        <p:txBody>
          <a:bodyPr wrap="square">
            <a:spAutoFit/>
          </a:bodyPr>
          <a:lstStyle/>
          <a:p>
            <a:pPr>
              <a:defRPr sz="1400" b="1">
                <a:solidFill>
                  <a:srgbClr val="38BDF8"/>
                </a:solidFill>
              </a:defRPr>
            </a:pPr>
            <a:r>
              <a:t>Software Engineering Deliverables</a:t>
            </a:r>
          </a:p>
          <a:p>
            <a:pPr>
              <a:spcBef>
                <a:spcPts val="800"/>
              </a:spcBef>
              <a:defRPr sz="1050">
                <a:solidFill>
                  <a:srgbClr val="E2E8F0"/>
                </a:solidFill>
              </a:defRPr>
            </a:pPr>
            <a:r>
              <a:t>● Modular PyTorch Architecture:</a:t>
            </a:r>
            <a:br/>
            <a:r>
              <a:t>  - src/models/ (A1, A2, A3)</a:t>
            </a:r>
            <a:br/>
            <a:r>
              <a:t>  - src/dataset.py &amp; dynamic white padding collate_fn</a:t>
            </a:r>
            <a:br/>
            <a:r>
              <a:t>  - src/tokenizer.py &amp; postprocessor.py</a:t>
            </a:r>
            <a:br/>
            <a:br/>
            <a:r>
              <a:t>● Automated Scanning Pipeline:</a:t>
            </a:r>
            <a:br/>
            <a:r>
              <a:t>  - src/scan_pipeline.py with 4-point homography deskewing</a:t>
            </a:r>
            <a:br/>
            <a:br/>
            <a:r>
              <a:t>● 100% Passing Unit Test Suite:</a:t>
            </a:r>
            <a:br/>
            <a:r>
              <a:t>  - 30 pytest tests passing across macOS and Linux Colab</a:t>
            </a:r>
            <a:br/>
            <a:br/>
            <a:r>
              <a:t>● Complete Reproducibility:</a:t>
            </a:r>
            <a:br/>
            <a:r>
              <a:t>  - Fixed RNG seeds, checkpoints, and automated Colab runner.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13  CONCLUSION &amp; HORIZONS</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Conclusion &amp; </a:t>
            </a:r>
            <a:r>
              <a:rPr sz="2800" b="1">
                <a:solidFill>
                  <a:srgbClr val="38BDF8"/>
                </a:solidFill>
              </a:rPr>
              <a:t>Future Directions</a:t>
            </a:r>
          </a:p>
          <a:p>
            <a:pPr>
              <a:spcBef>
                <a:spcPts val="300"/>
              </a:spcBef>
              <a:defRPr sz="1200">
                <a:solidFill>
                  <a:srgbClr val="94A3B8"/>
                </a:solidFill>
              </a:defRPr>
            </a:pPr>
            <a:r>
              <a:t>Summary of empirical insights, project limitations, and future research paths.</a:t>
            </a:r>
          </a:p>
        </p:txBody>
      </p:sp>
      <p:sp>
        <p:nvSpPr>
          <p:cNvPr id="5" name="Rounded Rectangle 4"/>
          <p:cNvSpPr/>
          <p:nvPr/>
        </p:nvSpPr>
        <p:spPr>
          <a:xfrm>
            <a:off x="731520" y="1737360"/>
            <a:ext cx="3413455" cy="3657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3047695" cy="3383280"/>
          </a:xfrm>
          <a:prstGeom prst="rect">
            <a:avLst/>
          </a:prstGeom>
          <a:noFill/>
        </p:spPr>
        <p:txBody>
          <a:bodyPr wrap="square">
            <a:spAutoFit/>
          </a:bodyPr>
          <a:lstStyle/>
          <a:p>
            <a:pPr>
              <a:defRPr sz="1400" b="1">
                <a:solidFill>
                  <a:srgbClr val="38BDF8"/>
                </a:solidFill>
              </a:defRPr>
            </a:pPr>
            <a:r>
              <a:t>🏆 Key Findings</a:t>
            </a:r>
          </a:p>
          <a:p>
            <a:pPr>
              <a:spcBef>
                <a:spcPts val="800"/>
              </a:spcBef>
              <a:defRPr sz="1050">
                <a:solidFill>
                  <a:srgbClr val="E2E8F0"/>
                </a:solidFill>
              </a:defRPr>
            </a:pPr>
            <a:r>
              <a:t>● A1 CRNN is the Winner: Reached 79.94% CharAcc and 25.85% WordAcc with only 8.49M params.</a:t>
            </a:r>
            <a:br/>
            <a:br/>
            <a:r>
              <a:t>● BiLSTM &gt; Transformer: Sequential recurrence inductive bias provides superior sample efficiency on modest handwriting data.</a:t>
            </a:r>
            <a:br/>
            <a:br/>
            <a:r>
              <a:t>● Synthetic Curriculum was Critical: HarfBuzz pre-training eliminated CTC blank collapse.</a:t>
            </a:r>
          </a:p>
        </p:txBody>
      </p:sp>
      <p:sp>
        <p:nvSpPr>
          <p:cNvPr id="7" name="Rounded Rectangle 6"/>
          <p:cNvSpPr/>
          <p:nvPr/>
        </p:nvSpPr>
        <p:spPr>
          <a:xfrm>
            <a:off x="4389120" y="1737360"/>
            <a:ext cx="3413455" cy="3657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874519"/>
            <a:ext cx="3047695" cy="3383280"/>
          </a:xfrm>
          <a:prstGeom prst="rect">
            <a:avLst/>
          </a:prstGeom>
          <a:noFill/>
        </p:spPr>
        <p:txBody>
          <a:bodyPr wrap="square">
            <a:spAutoFit/>
          </a:bodyPr>
          <a:lstStyle/>
          <a:p>
            <a:pPr>
              <a:defRPr sz="1400" b="1">
                <a:solidFill>
                  <a:srgbClr val="F59E0B"/>
                </a:solidFill>
              </a:defRPr>
            </a:pPr>
            <a:r>
              <a:t>⚠️ Limitations</a:t>
            </a:r>
          </a:p>
          <a:p>
            <a:pPr>
              <a:spcBef>
                <a:spcPts val="800"/>
              </a:spcBef>
              <a:defRPr sz="1050">
                <a:solidFill>
                  <a:srgbClr val="E2E8F0"/>
                </a:solidFill>
              </a:defRPr>
            </a:pPr>
            <a:r>
              <a:t>● Limited Human Writers: 11 writers; test set does not cover all regional cursive variants.</a:t>
            </a:r>
            <a:br/>
            <a:br/>
            <a:r>
              <a:t>● Low Contrast Strokes: Faint pencil strokes can cause subscript deletions.</a:t>
            </a:r>
            <a:br/>
            <a:br/>
            <a:r>
              <a:t>● Absence of Language Model: Cannot disambiguate visual twin characters via semantic context.</a:t>
            </a:r>
          </a:p>
        </p:txBody>
      </p:sp>
      <p:sp>
        <p:nvSpPr>
          <p:cNvPr id="9" name="Rounded Rectangle 8"/>
          <p:cNvSpPr/>
          <p:nvPr/>
        </p:nvSpPr>
        <p:spPr>
          <a:xfrm>
            <a:off x="8046720" y="1737360"/>
            <a:ext cx="3413455" cy="3657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74519"/>
            <a:ext cx="3047695" cy="3383280"/>
          </a:xfrm>
          <a:prstGeom prst="rect">
            <a:avLst/>
          </a:prstGeom>
          <a:noFill/>
        </p:spPr>
        <p:txBody>
          <a:bodyPr wrap="square">
            <a:spAutoFit/>
          </a:bodyPr>
          <a:lstStyle/>
          <a:p>
            <a:pPr>
              <a:defRPr sz="1400" b="1">
                <a:solidFill>
                  <a:srgbClr val="22C55E"/>
                </a:solidFill>
              </a:defRPr>
            </a:pPr>
            <a:r>
              <a:t>💡 Future Work</a:t>
            </a:r>
          </a:p>
          <a:p>
            <a:pPr>
              <a:spcBef>
                <a:spcPts val="800"/>
              </a:spcBef>
              <a:defRPr sz="1050">
                <a:solidFill>
                  <a:srgbClr val="E2E8F0"/>
                </a:solidFill>
              </a:defRPr>
            </a:pPr>
            <a:r>
              <a:t>● Expanded Multi-Province Dataset: Collect writing samples across high schools nationwide.</a:t>
            </a:r>
            <a:br/>
            <a:br/>
            <a:r>
              <a:t>● Khmer RoBERTa Language Model: Integrate beam search decoding for post-OCR semantic correction.</a:t>
            </a:r>
            <a:br/>
            <a:br/>
            <a:r>
              <a:t>● Mobile On-Device Deployment: Export model via ONNX/CoreML for real-time offline phone camera scanning.</a:t>
            </a:r>
          </a:p>
        </p:txBody>
      </p:sp>
      <p:sp>
        <p:nvSpPr>
          <p:cNvPr id="11" name="Rounded Rectangle 10"/>
          <p:cNvSpPr/>
          <p:nvPr/>
        </p:nvSpPr>
        <p:spPr>
          <a:xfrm>
            <a:off x="731520" y="5486400"/>
            <a:ext cx="10728655" cy="100584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96128"/>
            <a:ext cx="10332720" cy="822960"/>
          </a:xfrm>
          <a:prstGeom prst="rect">
            <a:avLst/>
          </a:prstGeom>
          <a:noFill/>
        </p:spPr>
        <p:txBody>
          <a:bodyPr wrap="none">
            <a:spAutoFit/>
          </a:bodyPr>
          <a:lstStyle/>
          <a:p>
            <a:pPr>
              <a:defRPr sz="1100" b="1">
                <a:solidFill>
                  <a:srgbClr val="38BDF8"/>
                </a:solidFill>
              </a:defRPr>
            </a:pPr>
            <a:r>
              <a:t>🎯 Final Takeaway: Baseline CRNN with VGG and BiLSTM achieved ~80% Character Accuracy on unseen human writers, proving that localized recurrence and synthetic curriculum pre-training are the optimal foundation for Khmer handwriting OCR.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84048"/>
            <a:ext cx="2560320" cy="329184"/>
          </a:xfrm>
          <a:prstGeom prst="roundRect">
            <a:avLst/>
          </a:prstGeom>
          <a:solidFill>
            <a:srgbClr val="1D4ED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000" b="1">
                <a:solidFill>
                  <a:srgbClr val="FFFFFF"/>
                </a:solidFill>
              </a:defRPr>
            </a:pPr>
            <a:r>
              <a:t>14  REFERENCES &amp; THANKS</a:t>
            </a:r>
          </a:p>
        </p:txBody>
      </p:sp>
      <p:sp>
        <p:nvSpPr>
          <p:cNvPr id="4" name="TextBox 3"/>
          <p:cNvSpPr txBox="1"/>
          <p:nvPr/>
        </p:nvSpPr>
        <p:spPr>
          <a:xfrm>
            <a:off x="731520" y="804672"/>
            <a:ext cx="10698480" cy="777240"/>
          </a:xfrm>
          <a:prstGeom prst="rect">
            <a:avLst/>
          </a:prstGeom>
          <a:noFill/>
        </p:spPr>
        <p:txBody>
          <a:bodyPr wrap="square" lIns="0" tIns="0" rIns="0" bIns="0">
            <a:spAutoFit/>
          </a:bodyPr>
          <a:lstStyle/>
          <a:p>
            <a:r>
              <a:rPr sz="2800" b="1">
                <a:solidFill>
                  <a:srgbClr val="FFFFFF"/>
                </a:solidFill>
              </a:rPr>
              <a:t>References &amp; </a:t>
            </a:r>
            <a:r>
              <a:rPr sz="2800" b="1">
                <a:solidFill>
                  <a:srgbClr val="38BDF8"/>
                </a:solidFill>
              </a:rPr>
              <a:t>Acknowledgements</a:t>
            </a:r>
          </a:p>
          <a:p>
            <a:pPr>
              <a:spcBef>
                <a:spcPts val="300"/>
              </a:spcBef>
              <a:defRPr sz="1200">
                <a:solidFill>
                  <a:srgbClr val="94A3B8"/>
                </a:solidFill>
              </a:defRPr>
            </a:pPr>
            <a:r>
              <a:t>Academic citations and acknowledgement of support.</a:t>
            </a:r>
          </a:p>
        </p:txBody>
      </p:sp>
      <p:sp>
        <p:nvSpPr>
          <p:cNvPr id="5" name="Rounded Rectangle 4"/>
          <p:cNvSpPr/>
          <p:nvPr/>
        </p:nvSpPr>
        <p:spPr>
          <a:xfrm>
            <a:off x="731520" y="1737360"/>
            <a:ext cx="5212080" cy="3657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846320" cy="3383280"/>
          </a:xfrm>
          <a:prstGeom prst="rect">
            <a:avLst/>
          </a:prstGeom>
          <a:noFill/>
        </p:spPr>
        <p:txBody>
          <a:bodyPr wrap="square">
            <a:spAutoFit/>
          </a:bodyPr>
          <a:lstStyle/>
          <a:p>
            <a:pPr>
              <a:defRPr sz="1400" b="1">
                <a:solidFill>
                  <a:srgbClr val="38BDF8"/>
                </a:solidFill>
              </a:defRPr>
            </a:pPr>
            <a:r>
              <a:t>📖 Academic References</a:t>
            </a:r>
          </a:p>
          <a:p>
            <a:pPr>
              <a:spcBef>
                <a:spcPts val="600"/>
              </a:spcBef>
              <a:defRPr sz="950">
                <a:solidFill>
                  <a:srgbClr val="E2E8F0"/>
                </a:solidFill>
              </a:defRPr>
            </a:pPr>
            <a:r>
              <a:t>1. Graves, A., et al. (2006). Connectionist Temporal Classification (CTC): Labelling Unsegmented Sequence Data. ICML.</a:t>
            </a:r>
            <a:br/>
            <a:br/>
            <a:r>
              <a:t>2. Shi, B., Bai, X., &amp; Yao, C. (2016). An End-to-End Trainable Neural Network for Image-based Sequence Recognition (CRNN). IEEE TPAMI.</a:t>
            </a:r>
            <a:br/>
            <a:br/>
            <a:r>
              <a:t>3. He, K., et al. (2016). Deep Residual Learning for Image Recognition (ResNet). CVPR.</a:t>
            </a:r>
            <a:br/>
            <a:br/>
            <a:r>
              <a:t>4. Vaswani, A., et al. (2017). Attention Is All You Need (Transformer). NeurIPS.</a:t>
            </a:r>
            <a:br/>
            <a:br/>
            <a:r>
              <a:t>5. Loshchilov, I., &amp; Hutter, F. (2019). Decoupled Weight Decay Regularization (AdamW). ICLR.</a:t>
            </a:r>
          </a:p>
        </p:txBody>
      </p:sp>
      <p:sp>
        <p:nvSpPr>
          <p:cNvPr id="7" name="Rounded Rectangle 6"/>
          <p:cNvSpPr/>
          <p:nvPr/>
        </p:nvSpPr>
        <p:spPr>
          <a:xfrm>
            <a:off x="6217920" y="1737360"/>
            <a:ext cx="5242255" cy="365760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74519"/>
            <a:ext cx="4846320" cy="3383280"/>
          </a:xfrm>
          <a:prstGeom prst="rect">
            <a:avLst/>
          </a:prstGeom>
          <a:noFill/>
        </p:spPr>
        <p:txBody>
          <a:bodyPr wrap="square">
            <a:spAutoFit/>
          </a:bodyPr>
          <a:lstStyle/>
          <a:p>
            <a:pPr>
              <a:defRPr sz="1400" b="1">
                <a:solidFill>
                  <a:srgbClr val="38BDF8"/>
                </a:solidFill>
              </a:defRPr>
            </a:pPr>
            <a:r>
              <a:t>🤝 Acknowledgements</a:t>
            </a:r>
          </a:p>
          <a:p>
            <a:pPr>
              <a:spcBef>
                <a:spcPts val="600"/>
              </a:spcBef>
              <a:defRPr sz="1000">
                <a:solidFill>
                  <a:srgbClr val="E2E8F0"/>
                </a:solidFill>
              </a:defRPr>
            </a:pPr>
            <a:r>
              <a:t>● Academic Guidance:</a:t>
            </a:r>
            <a:br/>
            <a:r>
              <a:t>  Sincere gratitude to lecturer Mr. Soklong HIM for continuous mentorship, technical rigor, and feedback.</a:t>
            </a:r>
            <a:br/>
            <a:br/>
            <a:r>
              <a:t>● Open-Source Community:</a:t>
            </a:r>
            <a:br/>
            <a:r>
              <a:t>  PyTorch team, Google Colab, and HarfBuzz for high-performance deep learning and OpenType shaping engines.</a:t>
            </a:r>
            <a:br/>
            <a:br/>
            <a:r>
              <a:t>● Dataset Contributors:</a:t>
            </a:r>
            <a:br/>
            <a:r>
              <a:t>  Thank you to all human writers and contributors who provided handwritten samples for this research.</a:t>
            </a:r>
          </a:p>
        </p:txBody>
      </p:sp>
      <p:sp>
        <p:nvSpPr>
          <p:cNvPr id="9" name="Rounded Rectangle 8"/>
          <p:cNvSpPr/>
          <p:nvPr/>
        </p:nvSpPr>
        <p:spPr>
          <a:xfrm>
            <a:off x="731520" y="5486400"/>
            <a:ext cx="10728655" cy="1005840"/>
          </a:xfrm>
          <a:prstGeom prst="roundRect">
            <a:avLst/>
          </a:prstGeom>
          <a:solidFill>
            <a:srgbClr val="0A1630"/>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623560"/>
            <a:ext cx="10332720" cy="731520"/>
          </a:xfrm>
          <a:prstGeom prst="rect">
            <a:avLst/>
          </a:prstGeom>
          <a:noFill/>
        </p:spPr>
        <p:txBody>
          <a:bodyPr wrap="square">
            <a:spAutoFit/>
          </a:bodyPr>
          <a:lstStyle/>
          <a:p>
            <a:r>
              <a:rPr sz="1800" b="1">
                <a:solidFill>
                  <a:srgbClr val="FFFFFF"/>
                </a:solidFill>
              </a:rPr>
              <a:t>🚀 Thank You!  </a:t>
            </a:r>
            <a:r>
              <a:rPr sz="1200">
                <a:solidFill>
                  <a:srgbClr val="38BDF8"/>
                </a:solidFill>
              </a:rPr>
              <a:t>|  Thank you for your time and attention. I welcome your questions and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